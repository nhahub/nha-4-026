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1.gif" ContentType="image/gif"/>
  <Override PartName="/ppt/media/image12.gif" ContentType="image/gi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7FC9707-0E96-4F16-B076-0CE4C259E2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37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2C801C-5BD7-4C78-A90E-4F8DFCD82E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38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F8AE11-A022-4AA5-ABB4-6909163E80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39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4F072E-5F1F-484F-9458-7AA0A609E4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40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72FC95-1903-4363-A8DF-3E29AB3257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41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D9BED9-59F1-4A52-A231-D8F494173C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42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49ECC-F701-413B-972B-DEA0B6529D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1036080" y="1257120"/>
            <a:ext cx="8289720" cy="339444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1036080" y="4840560"/>
            <a:ext cx="8289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43"/>
          </p:nvPr>
        </p:nvSpPr>
        <p:spPr>
          <a:xfrm>
            <a:off x="5869800" y="9553680"/>
            <a:ext cx="4489920" cy="5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980331-8442-497B-A6CC-8FB83F201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15ED1B-2C2B-46BD-A817-3C620D04D8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1DE89D-E1FE-4B33-90C5-E1BEB0225C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2368E8-7415-4E9A-BA7A-596C417E0C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3CBECD-E7DC-464D-8BE1-EC7F4E424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5FEABC-C770-4358-A52A-7B3DBAA6D4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1601C2-1A3B-40C0-9A96-4C70130B99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C57B41-B20D-42D3-82B1-7D6FEDCA36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273E43-CE20-4F68-B0A0-A04D88A3B9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702CA9-05DD-40AB-8CB2-A0283CDC45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A23E24-8A45-4AA1-93FF-7B87E1681B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9831B2-91E2-4871-AB8A-32D7CA3FB6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42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5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6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2.gif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Oval 1"/>
          <p:cNvSpPr/>
          <p:nvPr/>
        </p:nvSpPr>
        <p:spPr>
          <a:xfrm>
            <a:off x="548640" y="2011680"/>
            <a:ext cx="164160" cy="1641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Oval 2"/>
          <p:cNvSpPr/>
          <p:nvPr/>
        </p:nvSpPr>
        <p:spPr>
          <a:xfrm>
            <a:off x="548640" y="2468880"/>
            <a:ext cx="164160" cy="16416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Oval 3"/>
          <p:cNvSpPr/>
          <p:nvPr/>
        </p:nvSpPr>
        <p:spPr>
          <a:xfrm>
            <a:off x="548640" y="2926080"/>
            <a:ext cx="164160" cy="164160"/>
          </a:xfrm>
          <a:prstGeom prst="ellipse">
            <a:avLst/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1005840" y="19659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GRADUATION PROJECT  ·  BIG DATA ENGINEERING  · 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1005840" y="237744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Egypt E-Commerce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1005840" y="320040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Big Data Personalization Pipeline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1005840" y="42519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End-to-end batch + real-time architecture with Kafka, Spark, PostgreSQL, Streamlit &amp; Power BI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1005840" y="52120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Presented by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1005840" y="54406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[ Your Name 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1005840" y="58521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[ Your University · Department 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1"/>
          <p:cNvSpPr/>
          <p:nvPr/>
        </p:nvSpPr>
        <p:spPr>
          <a:xfrm>
            <a:off x="6949440" y="5166360"/>
            <a:ext cx="1554120" cy="127980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6949440" y="53308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6949440" y="5852160"/>
            <a:ext cx="1554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silver tables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integrated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4"/>
          <p:cNvSpPr/>
          <p:nvPr/>
        </p:nvSpPr>
        <p:spPr>
          <a:xfrm>
            <a:off x="8641080" y="5166360"/>
            <a:ext cx="1554120" cy="127980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8641080" y="53308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~360K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6"/>
          <p:cNvSpPr/>
          <p:nvPr/>
        </p:nvSpPr>
        <p:spPr>
          <a:xfrm>
            <a:off x="8641080" y="5852160"/>
            <a:ext cx="1554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rows processed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in batch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7"/>
          <p:cNvSpPr/>
          <p:nvPr/>
        </p:nvSpPr>
        <p:spPr>
          <a:xfrm>
            <a:off x="10332720" y="5166360"/>
            <a:ext cx="1554120" cy="127980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10332720" y="53308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3s / 5s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9"/>
          <p:cNvSpPr/>
          <p:nvPr/>
        </p:nvSpPr>
        <p:spPr>
          <a:xfrm>
            <a:off x="10332720" y="5852160"/>
            <a:ext cx="1554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dashboard refresh 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stream micro-batch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10058400" y="6537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May 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65880" y="-484560"/>
            <a:ext cx="12191400" cy="685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Agenda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What we will cover in the next 15 minutes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02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548640" y="155448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Oval 5"/>
          <p:cNvSpPr/>
          <p:nvPr/>
        </p:nvSpPr>
        <p:spPr>
          <a:xfrm>
            <a:off x="777240" y="178308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1463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Problem Statement &amp; Objectives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1463040" y="21214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Why this project, who benefits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6217920" y="155448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Oval 9"/>
          <p:cNvSpPr/>
          <p:nvPr/>
        </p:nvSpPr>
        <p:spPr>
          <a:xfrm>
            <a:off x="6446520" y="178308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713232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System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7132320" y="21214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Batch + streaming 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2"/>
          <p:cNvSpPr/>
          <p:nvPr/>
        </p:nvSpPr>
        <p:spPr>
          <a:xfrm>
            <a:off x="548640" y="267912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Oval 13"/>
          <p:cNvSpPr/>
          <p:nvPr/>
        </p:nvSpPr>
        <p:spPr>
          <a:xfrm>
            <a:off x="777240" y="290772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1463040" y="28803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Technology 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5"/>
          <p:cNvSpPr/>
          <p:nvPr/>
        </p:nvSpPr>
        <p:spPr>
          <a:xfrm>
            <a:off x="1463040" y="32461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Tools and versions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6"/>
          <p:cNvSpPr/>
          <p:nvPr/>
        </p:nvSpPr>
        <p:spPr>
          <a:xfrm>
            <a:off x="6217920" y="267912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Oval 17"/>
          <p:cNvSpPr/>
          <p:nvPr/>
        </p:nvSpPr>
        <p:spPr>
          <a:xfrm>
            <a:off x="6446520" y="290772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8"/>
          <p:cNvSpPr/>
          <p:nvPr/>
        </p:nvSpPr>
        <p:spPr>
          <a:xfrm>
            <a:off x="7132320" y="28803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Batch ETL Phase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9"/>
          <p:cNvSpPr/>
          <p:nvPr/>
        </p:nvSpPr>
        <p:spPr>
          <a:xfrm>
            <a:off x="7132320" y="32461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Silver layer cleaning &amp; warehousing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0"/>
          <p:cNvSpPr/>
          <p:nvPr/>
        </p:nvSpPr>
        <p:spPr>
          <a:xfrm>
            <a:off x="548640" y="380376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Oval 21"/>
          <p:cNvSpPr/>
          <p:nvPr/>
        </p:nvSpPr>
        <p:spPr>
          <a:xfrm>
            <a:off x="777240" y="403236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2"/>
          <p:cNvSpPr/>
          <p:nvPr/>
        </p:nvSpPr>
        <p:spPr>
          <a:xfrm>
            <a:off x="1463040" y="40050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Streaming ETL Phase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1463040" y="43707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Real-time event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24"/>
          <p:cNvSpPr/>
          <p:nvPr/>
        </p:nvSpPr>
        <p:spPr>
          <a:xfrm>
            <a:off x="6217920" y="380376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Oval 25"/>
          <p:cNvSpPr/>
          <p:nvPr/>
        </p:nvSpPr>
        <p:spPr>
          <a:xfrm>
            <a:off x="6446520" y="403236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6"/>
          <p:cNvSpPr/>
          <p:nvPr/>
        </p:nvSpPr>
        <p:spPr>
          <a:xfrm>
            <a:off x="7132320" y="40050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Visualization Layer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7"/>
          <p:cNvSpPr/>
          <p:nvPr/>
        </p:nvSpPr>
        <p:spPr>
          <a:xfrm>
            <a:off x="7132320" y="43707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Streamlit dashboard + Power BI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28"/>
          <p:cNvSpPr/>
          <p:nvPr/>
        </p:nvSpPr>
        <p:spPr>
          <a:xfrm>
            <a:off x="548640" y="492876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Oval 29"/>
          <p:cNvSpPr/>
          <p:nvPr/>
        </p:nvSpPr>
        <p:spPr>
          <a:xfrm>
            <a:off x="777240" y="515736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0"/>
          <p:cNvSpPr/>
          <p:nvPr/>
        </p:nvSpPr>
        <p:spPr>
          <a:xfrm>
            <a:off x="1463040" y="51296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Azure Cloud Integration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1"/>
          <p:cNvSpPr/>
          <p:nvPr/>
        </p:nvSpPr>
        <p:spPr>
          <a:xfrm>
            <a:off x="1463040" y="54954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Path to managed services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32"/>
          <p:cNvSpPr/>
          <p:nvPr/>
        </p:nvSpPr>
        <p:spPr>
          <a:xfrm>
            <a:off x="6217920" y="4928760"/>
            <a:ext cx="5303160" cy="959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Oval 33"/>
          <p:cNvSpPr/>
          <p:nvPr/>
        </p:nvSpPr>
        <p:spPr>
          <a:xfrm>
            <a:off x="6446520" y="5157360"/>
            <a:ext cx="502560" cy="50256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4"/>
          <p:cNvSpPr/>
          <p:nvPr/>
        </p:nvSpPr>
        <p:spPr>
          <a:xfrm>
            <a:off x="7132320" y="51296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Results, Challenges &amp; Future Work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5"/>
          <p:cNvSpPr/>
          <p:nvPr/>
        </p:nvSpPr>
        <p:spPr>
          <a:xfrm>
            <a:off x="7132320" y="54954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What we learned, what's next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6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7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Problem Statement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The gap this project addresses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03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548640" y="164592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Why Egypt E-Commerce?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548640" y="2103120"/>
            <a:ext cx="56689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Egypt's e-commerce market is growing rapidly, yet most analytics platforms are built around USD pricing and Western shipping zones. Local merchants need Arabic-aware, EGP-localized, governorate-level insights — in both historical and live form.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Diamond 6"/>
          <p:cNvSpPr/>
          <p:nvPr/>
        </p:nvSpPr>
        <p:spPr>
          <a:xfrm>
            <a:off x="548640" y="3703320"/>
            <a:ext cx="164160" cy="164160"/>
          </a:xfrm>
          <a:prstGeom prst="diamond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868680" y="3657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Historical analytics in EGP per governorate are scarce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Diamond 8"/>
          <p:cNvSpPr/>
          <p:nvPr/>
        </p:nvSpPr>
        <p:spPr>
          <a:xfrm>
            <a:off x="548640" y="4114800"/>
            <a:ext cx="164160" cy="164160"/>
          </a:xfrm>
          <a:prstGeom prst="diamond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868680" y="4069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Real-time order monitoring is dominated by expensive SaaS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Diamond 10"/>
          <p:cNvSpPr/>
          <p:nvPr/>
        </p:nvSpPr>
        <p:spPr>
          <a:xfrm>
            <a:off x="548640" y="4526280"/>
            <a:ext cx="164160" cy="164160"/>
          </a:xfrm>
          <a:prstGeom prst="diamond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868680" y="44805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Schema drift between Arabic / English categories is unaddressed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Diamond 12"/>
          <p:cNvSpPr/>
          <p:nvPr/>
        </p:nvSpPr>
        <p:spPr>
          <a:xfrm>
            <a:off x="548640" y="4937760"/>
            <a:ext cx="164160" cy="164160"/>
          </a:xfrm>
          <a:prstGeom prst="diamond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3"/>
          <p:cNvSpPr/>
          <p:nvPr/>
        </p:nvSpPr>
        <p:spPr>
          <a:xfrm>
            <a:off x="868680" y="4892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Most graduation projects stop at batch — streaming is uncommon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4"/>
          <p:cNvSpPr/>
          <p:nvPr/>
        </p:nvSpPr>
        <p:spPr>
          <a:xfrm>
            <a:off x="6766560" y="1645920"/>
            <a:ext cx="4845960" cy="420588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 w="19050">
            <a:solidFill>
              <a:srgbClr val="1c7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5"/>
          <p:cNvSpPr/>
          <p:nvPr/>
        </p:nvSpPr>
        <p:spPr>
          <a:xfrm>
            <a:off x="7040880" y="182880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Our Approach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16"/>
          <p:cNvSpPr/>
          <p:nvPr/>
        </p:nvSpPr>
        <p:spPr>
          <a:xfrm>
            <a:off x="7040880" y="237744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7406640" y="23133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Localized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7406640" y="26060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All money in EGP, Arabic + English categories, governorate-level joins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Oval 19"/>
          <p:cNvSpPr/>
          <p:nvPr/>
        </p:nvSpPr>
        <p:spPr>
          <a:xfrm>
            <a:off x="7040880" y="324612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7406640" y="31820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Two-speed analytics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1"/>
          <p:cNvSpPr/>
          <p:nvPr/>
        </p:nvSpPr>
        <p:spPr>
          <a:xfrm>
            <a:off x="7406640" y="34747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Hours-old batch warehouse + sub-second streaming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Oval 22"/>
          <p:cNvSpPr/>
          <p:nvPr/>
        </p:nvSpPr>
        <p:spPr>
          <a:xfrm>
            <a:off x="7040880" y="411480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3"/>
          <p:cNvSpPr/>
          <p:nvPr/>
        </p:nvSpPr>
        <p:spPr>
          <a:xfrm>
            <a:off x="7406640" y="4050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Free-tier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4"/>
          <p:cNvSpPr/>
          <p:nvPr/>
        </p:nvSpPr>
        <p:spPr>
          <a:xfrm>
            <a:off x="7406640" y="434340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Local Docker stack costs $0; cloud add-ons opt-in per use case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Oval 25"/>
          <p:cNvSpPr/>
          <p:nvPr/>
        </p:nvSpPr>
        <p:spPr>
          <a:xfrm>
            <a:off x="7040880" y="498348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6"/>
          <p:cNvSpPr/>
          <p:nvPr/>
        </p:nvSpPr>
        <p:spPr>
          <a:xfrm>
            <a:off x="7406640" y="49194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Reproducible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7"/>
          <p:cNvSpPr/>
          <p:nvPr/>
        </p:nvSpPr>
        <p:spPr>
          <a:xfrm>
            <a:off x="7406640" y="52120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Docker Compose + Airflow DAGs + checked-in SQL = clone-and-run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8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9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Project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Concrete deliverables we set out to build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04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4"/>
          <p:cNvSpPr/>
          <p:nvPr/>
        </p:nvSpPr>
        <p:spPr>
          <a:xfrm>
            <a:off x="609480" y="1828800"/>
            <a:ext cx="2605680" cy="320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c7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609480" y="1828800"/>
            <a:ext cx="2605680" cy="1094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609480" y="228600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100%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609480" y="32918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Coverage of the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ORIGINAL silver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8"/>
          <p:cNvSpPr/>
          <p:nvPr/>
        </p:nvSpPr>
        <p:spPr>
          <a:xfrm>
            <a:off x="1158120" y="4069080"/>
            <a:ext cx="150840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792360" y="420624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9 of 9 tables migrated, audited, and saved as Parquet + Postgres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10"/>
          <p:cNvSpPr/>
          <p:nvPr/>
        </p:nvSpPr>
        <p:spPr>
          <a:xfrm>
            <a:off x="3398400" y="1828800"/>
            <a:ext cx="2605680" cy="320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8a9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11"/>
          <p:cNvSpPr/>
          <p:nvPr/>
        </p:nvSpPr>
        <p:spPr>
          <a:xfrm>
            <a:off x="3398400" y="1828800"/>
            <a:ext cx="2605680" cy="10944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2"/>
          <p:cNvSpPr/>
          <p:nvPr/>
        </p:nvSpPr>
        <p:spPr>
          <a:xfrm>
            <a:off x="3398400" y="228600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&lt;8 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3398400" y="32918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End-to-end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streaming latency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14"/>
          <p:cNvSpPr/>
          <p:nvPr/>
        </p:nvSpPr>
        <p:spPr>
          <a:xfrm>
            <a:off x="3947040" y="4069080"/>
            <a:ext cx="150840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3581280" y="420624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Producer → Kafka → Spark → Postgres → Streamlit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6"/>
          <p:cNvSpPr/>
          <p:nvPr/>
        </p:nvSpPr>
        <p:spPr>
          <a:xfrm>
            <a:off x="6187320" y="1828800"/>
            <a:ext cx="2605680" cy="320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c7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17"/>
          <p:cNvSpPr/>
          <p:nvPr/>
        </p:nvSpPr>
        <p:spPr>
          <a:xfrm>
            <a:off x="6187320" y="1828800"/>
            <a:ext cx="2605680" cy="1094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8"/>
          <p:cNvSpPr/>
          <p:nvPr/>
        </p:nvSpPr>
        <p:spPr>
          <a:xfrm>
            <a:off x="6187320" y="228600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0 $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9"/>
          <p:cNvSpPr/>
          <p:nvPr/>
        </p:nvSpPr>
        <p:spPr>
          <a:xfrm>
            <a:off x="6187320" y="32918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Local infrastructure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running cost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20"/>
          <p:cNvSpPr/>
          <p:nvPr/>
        </p:nvSpPr>
        <p:spPr>
          <a:xfrm>
            <a:off x="6735960" y="4069080"/>
            <a:ext cx="150840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1"/>
          <p:cNvSpPr/>
          <p:nvPr/>
        </p:nvSpPr>
        <p:spPr>
          <a:xfrm>
            <a:off x="6370200" y="420624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Everything runs in Docker on a laptop; cloud add-ons are optional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22"/>
          <p:cNvSpPr/>
          <p:nvPr/>
        </p:nvSpPr>
        <p:spPr>
          <a:xfrm>
            <a:off x="8976240" y="1828800"/>
            <a:ext cx="2605680" cy="320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8a9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23"/>
          <p:cNvSpPr/>
          <p:nvPr/>
        </p:nvSpPr>
        <p:spPr>
          <a:xfrm>
            <a:off x="8976240" y="1828800"/>
            <a:ext cx="2605680" cy="10944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4"/>
          <p:cNvSpPr/>
          <p:nvPr/>
        </p:nvSpPr>
        <p:spPr>
          <a:xfrm>
            <a:off x="8976240" y="2286000"/>
            <a:ext cx="2605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5"/>
          <p:cNvSpPr/>
          <p:nvPr/>
        </p:nvSpPr>
        <p:spPr>
          <a:xfrm>
            <a:off x="8976240" y="32918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Dashboard surfaces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(dev + enterprise)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26"/>
          <p:cNvSpPr/>
          <p:nvPr/>
        </p:nvSpPr>
        <p:spPr>
          <a:xfrm>
            <a:off x="9524880" y="4069080"/>
            <a:ext cx="150840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27"/>
          <p:cNvSpPr/>
          <p:nvPr/>
        </p:nvSpPr>
        <p:spPr>
          <a:xfrm>
            <a:off x="9159120" y="420624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Streamlit for engineers + Power BI for business users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8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9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System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Three layers: batch ingestion, real-time streaming, and presentation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05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4" descr="architecture_full.png"/>
          <p:cNvPicPr/>
          <p:nvPr/>
        </p:nvPicPr>
        <p:blipFill>
          <a:blip r:embed="rId1"/>
          <a:stretch/>
        </p:blipFill>
        <p:spPr>
          <a:xfrm>
            <a:off x="1280160" y="1417320"/>
            <a:ext cx="9600840" cy="540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5"/>
          <p:cNvSpPr/>
          <p:nvPr/>
        </p:nvSpPr>
        <p:spPr>
          <a:xfrm>
            <a:off x="548640" y="62636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Both batch and streaming paths converge on PostgreSQL — the single source of truth that powers every dashboard.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48640" y="320040"/>
            <a:ext cx="5486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Technology Stack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548640" y="868680"/>
            <a:ext cx="10058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Six categories — every component containerized for reproducibility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10515600" y="365760"/>
            <a:ext cx="1188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06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4" descr="tech_stack.png"/>
          <p:cNvPicPr/>
          <p:nvPr/>
        </p:nvPicPr>
        <p:blipFill>
          <a:blip r:embed="rId1"/>
          <a:stretch/>
        </p:blipFill>
        <p:spPr>
          <a:xfrm>
            <a:off x="1965960" y="1417320"/>
            <a:ext cx="8229240" cy="499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5"/>
          <p:cNvSpPr/>
          <p:nvPr/>
        </p:nvSpPr>
        <p:spPr>
          <a:xfrm>
            <a:off x="548640" y="6446520"/>
            <a:ext cx="7314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9601200" y="6446520"/>
            <a:ext cx="2285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487440" y="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Pipeline Architecture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304560" y="1218960"/>
            <a:ext cx="2010960" cy="1828080"/>
          </a:xfrm>
          <a:prstGeom prst="rect">
            <a:avLst/>
          </a:prstGeom>
          <a:solidFill>
            <a:srgbClr val="6b728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304560" y="1218960"/>
            <a:ext cx="2011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426600" y="1926000"/>
            <a:ext cx="1767240" cy="1035720"/>
          </a:xfrm>
          <a:prstGeom prst="rect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365400" y="1950480"/>
            <a:ext cx="188928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 CSV Files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~550K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2316240" y="2011320"/>
            <a:ext cx="329040" cy="304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2316240" y="1974960"/>
            <a:ext cx="32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2645640" y="1218960"/>
            <a:ext cx="2010960" cy="1828080"/>
          </a:xfrm>
          <a:prstGeom prst="rect">
            <a:avLst/>
          </a:prstGeom>
          <a:solidFill>
            <a:srgbClr val="0f968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2645640" y="1218960"/>
            <a:ext cx="2011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Bronze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2767320" y="1926000"/>
            <a:ext cx="1767240" cy="1035720"/>
          </a:xfrm>
          <a:prstGeom prst="rect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2706480" y="1950480"/>
            <a:ext cx="188928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Raw Parquet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HDFS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4"/>
          <p:cNvSpPr/>
          <p:nvPr/>
        </p:nvSpPr>
        <p:spPr>
          <a:xfrm>
            <a:off x="4656960" y="2011320"/>
            <a:ext cx="329040" cy="304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4656960" y="1974960"/>
            <a:ext cx="32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4986720" y="1218960"/>
            <a:ext cx="2010960" cy="1828080"/>
          </a:xfrm>
          <a:prstGeom prst="rect">
            <a:avLst/>
          </a:prstGeom>
          <a:solidFill>
            <a:srgbClr val="1b4fb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4986360" y="1218960"/>
            <a:ext cx="2011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Silver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8"/>
          <p:cNvSpPr/>
          <p:nvPr/>
        </p:nvSpPr>
        <p:spPr>
          <a:xfrm>
            <a:off x="5108400" y="1926000"/>
            <a:ext cx="1767240" cy="1035720"/>
          </a:xfrm>
          <a:prstGeom prst="rect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5047560" y="1950480"/>
            <a:ext cx="188928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Cleaned Parquet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HDFS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0"/>
          <p:cNvSpPr/>
          <p:nvPr/>
        </p:nvSpPr>
        <p:spPr>
          <a:xfrm>
            <a:off x="6998040" y="2011320"/>
            <a:ext cx="329040" cy="304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1"/>
          <p:cNvSpPr/>
          <p:nvPr/>
        </p:nvSpPr>
        <p:spPr>
          <a:xfrm>
            <a:off x="6998040" y="1974960"/>
            <a:ext cx="32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2"/>
          <p:cNvSpPr/>
          <p:nvPr/>
        </p:nvSpPr>
        <p:spPr>
          <a:xfrm>
            <a:off x="7327080" y="1218960"/>
            <a:ext cx="2010960" cy="1828080"/>
          </a:xfrm>
          <a:prstGeom prst="rect">
            <a:avLst/>
          </a:prstGeom>
          <a:solidFill>
            <a:srgbClr val="3a8d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3"/>
          <p:cNvSpPr/>
          <p:nvPr/>
        </p:nvSpPr>
        <p:spPr>
          <a:xfrm>
            <a:off x="7326720" y="1218960"/>
            <a:ext cx="2011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4"/>
          <p:cNvSpPr/>
          <p:nvPr/>
        </p:nvSpPr>
        <p:spPr>
          <a:xfrm>
            <a:off x="7448760" y="1926000"/>
            <a:ext cx="1767240" cy="1035720"/>
          </a:xfrm>
          <a:prstGeom prst="rect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5"/>
          <p:cNvSpPr/>
          <p:nvPr/>
        </p:nvSpPr>
        <p:spPr>
          <a:xfrm>
            <a:off x="7387920" y="1950480"/>
            <a:ext cx="188928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 Schema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6"/>
          <p:cNvSpPr/>
          <p:nvPr/>
        </p:nvSpPr>
        <p:spPr>
          <a:xfrm>
            <a:off x="9338400" y="2011320"/>
            <a:ext cx="329040" cy="304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7"/>
          <p:cNvSpPr/>
          <p:nvPr/>
        </p:nvSpPr>
        <p:spPr>
          <a:xfrm>
            <a:off x="9338400" y="1974960"/>
            <a:ext cx="32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8"/>
          <p:cNvSpPr/>
          <p:nvPr/>
        </p:nvSpPr>
        <p:spPr>
          <a:xfrm>
            <a:off x="9667800" y="1218960"/>
            <a:ext cx="2010960" cy="1828080"/>
          </a:xfrm>
          <a:prstGeom prst="rect">
            <a:avLst/>
          </a:prstGeom>
          <a:solidFill>
            <a:srgbClr val="16a3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9"/>
          <p:cNvSpPr/>
          <p:nvPr/>
        </p:nvSpPr>
        <p:spPr>
          <a:xfrm>
            <a:off x="9667800" y="1218960"/>
            <a:ext cx="2011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0"/>
          <p:cNvSpPr/>
          <p:nvPr/>
        </p:nvSpPr>
        <p:spPr>
          <a:xfrm>
            <a:off x="9789840" y="1926000"/>
            <a:ext cx="1767240" cy="1035720"/>
          </a:xfrm>
          <a:prstGeom prst="rect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1"/>
          <p:cNvSpPr/>
          <p:nvPr/>
        </p:nvSpPr>
        <p:spPr>
          <a:xfrm>
            <a:off x="9728640" y="1950480"/>
            <a:ext cx="188928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 BI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Pages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2"/>
          <p:cNvSpPr/>
          <p:nvPr/>
        </p:nvSpPr>
        <p:spPr>
          <a:xfrm>
            <a:off x="304560" y="3230640"/>
            <a:ext cx="11581920" cy="54828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3"/>
          <p:cNvSpPr/>
          <p:nvPr/>
        </p:nvSpPr>
        <p:spPr>
          <a:xfrm>
            <a:off x="487440" y="3230640"/>
            <a:ext cx="11216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a8dff"/>
                </a:solidFill>
                <a:effectLst/>
                <a:uFillTx/>
                <a:latin typeface="Calibri"/>
                <a:ea typeface="Calibri"/>
              </a:rPr>
              <a:t>Orchestrated by  Apache Airflow  —  DAG: olist_batch_pipeline  (bronze → silver → gold_delivery → gold_churn)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4"/>
          <p:cNvSpPr/>
          <p:nvPr/>
        </p:nvSpPr>
        <p:spPr>
          <a:xfrm>
            <a:off x="365400" y="4023000"/>
            <a:ext cx="114598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Infrastructure Components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5"/>
          <p:cNvSpPr/>
          <p:nvPr/>
        </p:nvSpPr>
        <p:spPr>
          <a:xfrm>
            <a:off x="365400" y="4571640"/>
            <a:ext cx="3656880" cy="46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6"/>
          <p:cNvSpPr/>
          <p:nvPr/>
        </p:nvSpPr>
        <p:spPr>
          <a:xfrm>
            <a:off x="365400" y="4571640"/>
            <a:ext cx="72720" cy="46260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7"/>
          <p:cNvSpPr/>
          <p:nvPr/>
        </p:nvSpPr>
        <p:spPr>
          <a:xfrm>
            <a:off x="548280" y="4571640"/>
            <a:ext cx="3352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12 Docker Containers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8"/>
          <p:cNvSpPr/>
          <p:nvPr/>
        </p:nvSpPr>
        <p:spPr>
          <a:xfrm>
            <a:off x="4267080" y="4571640"/>
            <a:ext cx="3656880" cy="46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9"/>
          <p:cNvSpPr/>
          <p:nvPr/>
        </p:nvSpPr>
        <p:spPr>
          <a:xfrm>
            <a:off x="4266720" y="4571640"/>
            <a:ext cx="72720" cy="46260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0"/>
          <p:cNvSpPr/>
          <p:nvPr/>
        </p:nvSpPr>
        <p:spPr>
          <a:xfrm>
            <a:off x="4449960" y="4571640"/>
            <a:ext cx="3352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Spark Standalone Cluster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1"/>
          <p:cNvSpPr/>
          <p:nvPr/>
        </p:nvSpPr>
        <p:spPr>
          <a:xfrm>
            <a:off x="8168400" y="4571640"/>
            <a:ext cx="3656880" cy="46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2"/>
          <p:cNvSpPr/>
          <p:nvPr/>
        </p:nvSpPr>
        <p:spPr>
          <a:xfrm>
            <a:off x="8168040" y="4571640"/>
            <a:ext cx="72720" cy="46260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3"/>
          <p:cNvSpPr/>
          <p:nvPr/>
        </p:nvSpPr>
        <p:spPr>
          <a:xfrm>
            <a:off x="8351280" y="4571640"/>
            <a:ext cx="3352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HDFS (NameNode + DataNode)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4"/>
          <p:cNvSpPr/>
          <p:nvPr/>
        </p:nvSpPr>
        <p:spPr>
          <a:xfrm>
            <a:off x="365400" y="5181120"/>
            <a:ext cx="3656880" cy="46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5"/>
          <p:cNvSpPr/>
          <p:nvPr/>
        </p:nvSpPr>
        <p:spPr>
          <a:xfrm>
            <a:off x="365400" y="5181120"/>
            <a:ext cx="72720" cy="46260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6"/>
          <p:cNvSpPr/>
          <p:nvPr/>
        </p:nvSpPr>
        <p:spPr>
          <a:xfrm>
            <a:off x="548280" y="5181120"/>
            <a:ext cx="3352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PostgreSQL (sessiondb)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7"/>
          <p:cNvSpPr/>
          <p:nvPr/>
        </p:nvSpPr>
        <p:spPr>
          <a:xfrm>
            <a:off x="4267080" y="5181120"/>
            <a:ext cx="3656880" cy="46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8"/>
          <p:cNvSpPr/>
          <p:nvPr/>
        </p:nvSpPr>
        <p:spPr>
          <a:xfrm>
            <a:off x="4266720" y="5181120"/>
            <a:ext cx="72720" cy="46260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7"/>
          <p:cNvSpPr/>
          <p:nvPr/>
        </p:nvSpPr>
        <p:spPr>
          <a:xfrm>
            <a:off x="4449960" y="5181120"/>
            <a:ext cx="3352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Airflow (Webserver + Scheduler)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0"/>
          <p:cNvSpPr/>
          <p:nvPr/>
        </p:nvSpPr>
        <p:spPr>
          <a:xfrm>
            <a:off x="8168400" y="5181120"/>
            <a:ext cx="3656880" cy="46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51"/>
          <p:cNvSpPr/>
          <p:nvPr/>
        </p:nvSpPr>
        <p:spPr>
          <a:xfrm>
            <a:off x="8168040" y="5181120"/>
            <a:ext cx="72720" cy="46260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8"/>
          <p:cNvSpPr/>
          <p:nvPr/>
        </p:nvSpPr>
        <p:spPr>
          <a:xfrm>
            <a:off x="8351280" y="5181120"/>
            <a:ext cx="33523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pgAdmin | Kafka UI | Jupyter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7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487440" y="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Bronze &amp; Silver Layers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LAYERS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9"/>
          <p:cNvSpPr/>
          <p:nvPr/>
        </p:nvSpPr>
        <p:spPr>
          <a:xfrm>
            <a:off x="365400" y="1036080"/>
            <a:ext cx="5486040" cy="54828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365400" y="1036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🥉  BRONZE LAYER — Raw Ingestion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3"/>
          <p:cNvSpPr/>
          <p:nvPr/>
        </p:nvSpPr>
        <p:spPr>
          <a:xfrm>
            <a:off x="365400" y="1645560"/>
            <a:ext cx="5485680" cy="4693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5"/>
          <p:cNvSpPr/>
          <p:nvPr/>
        </p:nvSpPr>
        <p:spPr>
          <a:xfrm>
            <a:off x="365400" y="1645560"/>
            <a:ext cx="5486040" cy="7272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0"/>
          <p:cNvSpPr/>
          <p:nvPr/>
        </p:nvSpPr>
        <p:spPr>
          <a:xfrm>
            <a:off x="548280" y="1767600"/>
            <a:ext cx="51202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Bronze Does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4"/>
          <p:cNvSpPr/>
          <p:nvPr/>
        </p:nvSpPr>
        <p:spPr>
          <a:xfrm>
            <a:off x="548280" y="2182320"/>
            <a:ext cx="5120280" cy="40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Reads 9 CSV files from shared volume using file:// prefix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Writes each as snappy-compressed Parquet to HDFS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Zero transformations — exact landing copy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file:// prefix required: defaultFS=hdfs, so local files need explicit scheme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Handles UTF-8 encoding preserving Arabic columns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7"/>
          <p:cNvSpPr/>
          <p:nvPr/>
        </p:nvSpPr>
        <p:spPr>
          <a:xfrm>
            <a:off x="6217560" y="1036080"/>
            <a:ext cx="5607720" cy="54828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6"/>
          <p:cNvSpPr/>
          <p:nvPr/>
        </p:nvSpPr>
        <p:spPr>
          <a:xfrm>
            <a:off x="6217560" y="1036080"/>
            <a:ext cx="560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🥈  SILVER LAYER — Cleaned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9"/>
          <p:cNvSpPr/>
          <p:nvPr/>
        </p:nvSpPr>
        <p:spPr>
          <a:xfrm>
            <a:off x="6217560" y="1645560"/>
            <a:ext cx="5607720" cy="4693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1"/>
          <p:cNvSpPr/>
          <p:nvPr/>
        </p:nvSpPr>
        <p:spPr>
          <a:xfrm>
            <a:off x="6400440" y="1889640"/>
            <a:ext cx="1096920" cy="38988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6400440" y="1889640"/>
            <a:ext cx="10969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Orders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8"/>
          <p:cNvSpPr/>
          <p:nvPr/>
        </p:nvSpPr>
        <p:spPr>
          <a:xfrm>
            <a:off x="7583040" y="1889640"/>
            <a:ext cx="4023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Cast 5 timestamp columns; null 1,359 chronological violations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3"/>
          <p:cNvSpPr/>
          <p:nvPr/>
        </p:nvSpPr>
        <p:spPr>
          <a:xfrm>
            <a:off x="6400440" y="2596680"/>
            <a:ext cx="1096920" cy="38988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9"/>
          <p:cNvSpPr/>
          <p:nvPr/>
        </p:nvSpPr>
        <p:spPr>
          <a:xfrm>
            <a:off x="6400440" y="2596680"/>
            <a:ext cx="10969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Products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1"/>
          <p:cNvSpPr/>
          <p:nvPr/>
        </p:nvSpPr>
        <p:spPr>
          <a:xfrm>
            <a:off x="7583040" y="2596680"/>
            <a:ext cx="4023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Dropped 610 null rows; fixed 2 typos; median-filled; computed volume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4"/>
          <p:cNvSpPr/>
          <p:nvPr/>
        </p:nvSpPr>
        <p:spPr>
          <a:xfrm>
            <a:off x="6400440" y="3303720"/>
            <a:ext cx="1096920" cy="38988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2"/>
          <p:cNvSpPr/>
          <p:nvPr/>
        </p:nvSpPr>
        <p:spPr>
          <a:xfrm>
            <a:off x="6400440" y="3303720"/>
            <a:ext cx="10969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Translations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4"/>
          <p:cNvSpPr/>
          <p:nvPr/>
        </p:nvSpPr>
        <p:spPr>
          <a:xfrm>
            <a:off x="7583040" y="3303720"/>
            <a:ext cx="4023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Added 2 missing categories via Spark SQL UNION 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7"/>
          <p:cNvSpPr/>
          <p:nvPr/>
        </p:nvSpPr>
        <p:spPr>
          <a:xfrm>
            <a:off x="6400440" y="4011120"/>
            <a:ext cx="1096920" cy="38988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45"/>
          <p:cNvSpPr/>
          <p:nvPr/>
        </p:nvSpPr>
        <p:spPr>
          <a:xfrm>
            <a:off x="6400440" y="4011120"/>
            <a:ext cx="10969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Payments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9"/>
          <p:cNvSpPr/>
          <p:nvPr/>
        </p:nvSpPr>
        <p:spPr>
          <a:xfrm>
            <a:off x="7583040" y="4011120"/>
            <a:ext cx="4023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Removed 9 zero-value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0"/>
          <p:cNvSpPr/>
          <p:nvPr/>
        </p:nvSpPr>
        <p:spPr>
          <a:xfrm>
            <a:off x="6400440" y="4718160"/>
            <a:ext cx="1096920" cy="38988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0"/>
          <p:cNvSpPr/>
          <p:nvPr/>
        </p:nvSpPr>
        <p:spPr>
          <a:xfrm>
            <a:off x="6400440" y="4718160"/>
            <a:ext cx="10969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Reviews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1"/>
          <p:cNvSpPr/>
          <p:nvPr/>
        </p:nvSpPr>
        <p:spPr>
          <a:xfrm>
            <a:off x="7583040" y="4718160"/>
            <a:ext cx="4023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Filled 87K null titles and 58K null messages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43"/>
          <p:cNvSpPr/>
          <p:nvPr/>
        </p:nvSpPr>
        <p:spPr>
          <a:xfrm>
            <a:off x="6400440" y="5425200"/>
            <a:ext cx="1096920" cy="38988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2"/>
          <p:cNvSpPr/>
          <p:nvPr/>
        </p:nvSpPr>
        <p:spPr>
          <a:xfrm>
            <a:off x="6400440" y="5425200"/>
            <a:ext cx="109692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Geolocation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3"/>
          <p:cNvSpPr/>
          <p:nvPr/>
        </p:nvSpPr>
        <p:spPr>
          <a:xfrm>
            <a:off x="7583040" y="5425200"/>
            <a:ext cx="4023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Removed null lat/lon; deduplicated by zip+lat+lng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5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487440" y="0"/>
            <a:ext cx="975312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 Layer — Delivery Performance Datamart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1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 LAYER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365400" y="999360"/>
            <a:ext cx="1145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Schema: delivery_performance  |  Star Schema  |  2 Fact Tables  +  4 Dimensions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365760" y="1462680"/>
            <a:ext cx="2657160" cy="1523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1"/>
          <p:cNvSpPr/>
          <p:nvPr/>
        </p:nvSpPr>
        <p:spPr>
          <a:xfrm>
            <a:off x="365400" y="1462680"/>
            <a:ext cx="265716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8"/>
          <p:cNvSpPr/>
          <p:nvPr/>
        </p:nvSpPr>
        <p:spPr>
          <a:xfrm>
            <a:off x="487440" y="1560240"/>
            <a:ext cx="2413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dim_date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2"/>
          <p:cNvSpPr/>
          <p:nvPr/>
        </p:nvSpPr>
        <p:spPr>
          <a:xfrm>
            <a:off x="487440" y="1926000"/>
            <a:ext cx="24134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800 rows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1"/>
          <p:cNvSpPr/>
          <p:nvPr/>
        </p:nvSpPr>
        <p:spPr>
          <a:xfrm>
            <a:off x="487440" y="2194200"/>
            <a:ext cx="241344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Full date spine 2016–2018. Day, week, month, quarter, year, weekend flags.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6"/>
          <p:cNvSpPr/>
          <p:nvPr/>
        </p:nvSpPr>
        <p:spPr>
          <a:xfrm>
            <a:off x="3267360" y="1462680"/>
            <a:ext cx="2657160" cy="1523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9"/>
          <p:cNvSpPr/>
          <p:nvPr/>
        </p:nvSpPr>
        <p:spPr>
          <a:xfrm>
            <a:off x="3267000" y="1462680"/>
            <a:ext cx="265716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2"/>
          <p:cNvSpPr/>
          <p:nvPr/>
        </p:nvSpPr>
        <p:spPr>
          <a:xfrm>
            <a:off x="3389040" y="1560240"/>
            <a:ext cx="2413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dim_customer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3"/>
          <p:cNvSpPr/>
          <p:nvPr/>
        </p:nvSpPr>
        <p:spPr>
          <a:xfrm>
            <a:off x="3389040" y="1926000"/>
            <a:ext cx="24134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99,441 rows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4"/>
          <p:cNvSpPr/>
          <p:nvPr/>
        </p:nvSpPr>
        <p:spPr>
          <a:xfrm>
            <a:off x="3389040" y="2194200"/>
            <a:ext cx="241344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Customer profiles with Egyptian governorate, city, lat/lon from geolocation.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52"/>
          <p:cNvSpPr/>
          <p:nvPr/>
        </p:nvSpPr>
        <p:spPr>
          <a:xfrm>
            <a:off x="6168960" y="1462680"/>
            <a:ext cx="2657160" cy="1523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3"/>
          <p:cNvSpPr/>
          <p:nvPr/>
        </p:nvSpPr>
        <p:spPr>
          <a:xfrm>
            <a:off x="6168600" y="1462680"/>
            <a:ext cx="265716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65"/>
          <p:cNvSpPr/>
          <p:nvPr/>
        </p:nvSpPr>
        <p:spPr>
          <a:xfrm>
            <a:off x="6290640" y="1560240"/>
            <a:ext cx="2413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dim_seller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6"/>
          <p:cNvSpPr/>
          <p:nvPr/>
        </p:nvSpPr>
        <p:spPr>
          <a:xfrm>
            <a:off x="6290640" y="1926000"/>
            <a:ext cx="24134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3,095 rows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7"/>
          <p:cNvSpPr/>
          <p:nvPr/>
        </p:nvSpPr>
        <p:spPr>
          <a:xfrm>
            <a:off x="6290640" y="2194200"/>
            <a:ext cx="241344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Seller profiles with governorate and geolocation coordinates.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4"/>
          <p:cNvSpPr/>
          <p:nvPr/>
        </p:nvSpPr>
        <p:spPr>
          <a:xfrm>
            <a:off x="9070920" y="1462680"/>
            <a:ext cx="2657160" cy="1523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5"/>
          <p:cNvSpPr/>
          <p:nvPr/>
        </p:nvSpPr>
        <p:spPr>
          <a:xfrm>
            <a:off x="9070560" y="1462680"/>
            <a:ext cx="265716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8"/>
          <p:cNvSpPr/>
          <p:nvPr/>
        </p:nvSpPr>
        <p:spPr>
          <a:xfrm>
            <a:off x="9192600" y="1560240"/>
            <a:ext cx="2413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dim_product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9"/>
          <p:cNvSpPr/>
          <p:nvPr/>
        </p:nvSpPr>
        <p:spPr>
          <a:xfrm>
            <a:off x="9192600" y="1926000"/>
            <a:ext cx="24134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32,341 rows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0"/>
          <p:cNvSpPr/>
          <p:nvPr/>
        </p:nvSpPr>
        <p:spPr>
          <a:xfrm>
            <a:off x="9192600" y="2194200"/>
            <a:ext cx="241344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Products with category (EN), dimensions, volume, size &amp; weight tier.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1"/>
          <p:cNvSpPr/>
          <p:nvPr/>
        </p:nvSpPr>
        <p:spPr>
          <a:xfrm>
            <a:off x="365400" y="3169440"/>
            <a:ext cx="1145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Fact Tables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56"/>
          <p:cNvSpPr/>
          <p:nvPr/>
        </p:nvSpPr>
        <p:spPr>
          <a:xfrm>
            <a:off x="365400" y="3596400"/>
            <a:ext cx="5485680" cy="2803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57"/>
          <p:cNvSpPr/>
          <p:nvPr/>
        </p:nvSpPr>
        <p:spPr>
          <a:xfrm>
            <a:off x="365400" y="3596040"/>
            <a:ext cx="5486040" cy="72720"/>
          </a:xfrm>
          <a:prstGeom prst="rect">
            <a:avLst/>
          </a:prstGeom>
          <a:solidFill>
            <a:srgbClr val="3a8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72"/>
          <p:cNvSpPr/>
          <p:nvPr/>
        </p:nvSpPr>
        <p:spPr>
          <a:xfrm>
            <a:off x="548280" y="3681720"/>
            <a:ext cx="4266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fct_order_delivery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73"/>
          <p:cNvSpPr/>
          <p:nvPr/>
        </p:nvSpPr>
        <p:spPr>
          <a:xfrm>
            <a:off x="4693680" y="3657240"/>
            <a:ext cx="103572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98,666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4"/>
          <p:cNvSpPr/>
          <p:nvPr/>
        </p:nvSpPr>
        <p:spPr>
          <a:xfrm>
            <a:off x="548280" y="412020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delivery_duration_days, delay_days, buffer_days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5"/>
          <p:cNvSpPr/>
          <p:nvPr/>
        </p:nvSpPr>
        <p:spPr>
          <a:xfrm>
            <a:off x="548280" y="454716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delivery_status (on_time/late/very_late/not_delivered)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76"/>
          <p:cNvSpPr/>
          <p:nvPr/>
        </p:nvSpPr>
        <p:spPr>
          <a:xfrm>
            <a:off x="548280" y="497376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on_time_flag, distance_bucket (0-50/50-200/200-500/500+km)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7"/>
          <p:cNvSpPr/>
          <p:nvPr/>
        </p:nvSpPr>
        <p:spPr>
          <a:xfrm>
            <a:off x="548280" y="540036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freight_total_value, total_items_count, seller_count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78"/>
          <p:cNvSpPr/>
          <p:nvPr/>
        </p:nvSpPr>
        <p:spPr>
          <a:xfrm>
            <a:off x="548280" y="582732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is_multi_seller_order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8"/>
          <p:cNvSpPr/>
          <p:nvPr/>
        </p:nvSpPr>
        <p:spPr>
          <a:xfrm>
            <a:off x="6217560" y="3596400"/>
            <a:ext cx="5607720" cy="2803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59"/>
          <p:cNvSpPr/>
          <p:nvPr/>
        </p:nvSpPr>
        <p:spPr>
          <a:xfrm>
            <a:off x="6217560" y="3596040"/>
            <a:ext cx="5607720" cy="7272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9"/>
          <p:cNvSpPr/>
          <p:nvPr/>
        </p:nvSpPr>
        <p:spPr>
          <a:xfrm>
            <a:off x="6400440" y="3681720"/>
            <a:ext cx="4266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fct_seller_fulfillment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0"/>
          <p:cNvSpPr/>
          <p:nvPr/>
        </p:nvSpPr>
        <p:spPr>
          <a:xfrm>
            <a:off x="10179720" y="3657240"/>
            <a:ext cx="146268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112,650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1"/>
          <p:cNvSpPr/>
          <p:nvPr/>
        </p:nvSpPr>
        <p:spPr>
          <a:xfrm>
            <a:off x="6400440" y="412020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freight_value, item_price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82"/>
          <p:cNvSpPr/>
          <p:nvPr/>
        </p:nvSpPr>
        <p:spPr>
          <a:xfrm>
            <a:off x="6400440" y="454716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product_weight_g, product_volume_cm3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3"/>
          <p:cNvSpPr/>
          <p:nvPr/>
        </p:nvSpPr>
        <p:spPr>
          <a:xfrm>
            <a:off x="6400440" y="497376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seller_preparation_days, shipping_deadline_gap_days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84"/>
          <p:cNvSpPr/>
          <p:nvPr/>
        </p:nvSpPr>
        <p:spPr>
          <a:xfrm>
            <a:off x="6400440" y="540036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freight_ratio (freight / item price)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5"/>
          <p:cNvSpPr/>
          <p:nvPr/>
        </p:nvSpPr>
        <p:spPr>
          <a:xfrm>
            <a:off x="6400440" y="5827320"/>
            <a:ext cx="5120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• heavy_product_flag, seller_to_customer_distance_km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9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487440" y="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Airflow Orchestration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7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0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ORCHESTRATION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365400" y="999360"/>
            <a:ext cx="1145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DAG: olist_batch_pipeline  |  Schedule: @daily  |  4 tasks  |  BashOperator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60"/>
          <p:cNvSpPr/>
          <p:nvPr/>
        </p:nvSpPr>
        <p:spPr>
          <a:xfrm>
            <a:off x="304560" y="1523520"/>
            <a:ext cx="2559960" cy="792000"/>
          </a:xfrm>
          <a:prstGeom prst="rect">
            <a:avLst/>
          </a:prstGeom>
          <a:solidFill>
            <a:srgbClr val="0f968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4"/>
          <p:cNvSpPr/>
          <p:nvPr/>
        </p:nvSpPr>
        <p:spPr>
          <a:xfrm>
            <a:off x="401760" y="1560240"/>
            <a:ext cx="23652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bronze ingestion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55"/>
          <p:cNvSpPr/>
          <p:nvPr/>
        </p:nvSpPr>
        <p:spPr>
          <a:xfrm>
            <a:off x="401760" y="2048040"/>
            <a:ext cx="236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~3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6"/>
          <p:cNvSpPr/>
          <p:nvPr/>
        </p:nvSpPr>
        <p:spPr>
          <a:xfrm>
            <a:off x="2864880" y="1584720"/>
            <a:ext cx="3290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61"/>
          <p:cNvSpPr/>
          <p:nvPr/>
        </p:nvSpPr>
        <p:spPr>
          <a:xfrm>
            <a:off x="3194280" y="1523520"/>
            <a:ext cx="2559960" cy="792000"/>
          </a:xfrm>
          <a:prstGeom prst="rect">
            <a:avLst/>
          </a:prstGeom>
          <a:solidFill>
            <a:srgbClr val="1b4fb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57"/>
          <p:cNvSpPr/>
          <p:nvPr/>
        </p:nvSpPr>
        <p:spPr>
          <a:xfrm>
            <a:off x="3291480" y="1560240"/>
            <a:ext cx="23652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silver transformation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8"/>
          <p:cNvSpPr/>
          <p:nvPr/>
        </p:nvSpPr>
        <p:spPr>
          <a:xfrm>
            <a:off x="3291480" y="2048040"/>
            <a:ext cx="236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~5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9"/>
          <p:cNvSpPr/>
          <p:nvPr/>
        </p:nvSpPr>
        <p:spPr>
          <a:xfrm>
            <a:off x="5754240" y="1584720"/>
            <a:ext cx="3290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62"/>
          <p:cNvSpPr/>
          <p:nvPr/>
        </p:nvSpPr>
        <p:spPr>
          <a:xfrm>
            <a:off x="6083640" y="1523520"/>
            <a:ext cx="2559960" cy="792000"/>
          </a:xfrm>
          <a:prstGeom prst="rect">
            <a:avLst/>
          </a:prstGeom>
          <a:solidFill>
            <a:srgbClr val="3a8d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0"/>
          <p:cNvSpPr/>
          <p:nvPr/>
        </p:nvSpPr>
        <p:spPr>
          <a:xfrm>
            <a:off x="6180840" y="1560240"/>
            <a:ext cx="23652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 delivery performance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86"/>
          <p:cNvSpPr/>
          <p:nvPr/>
        </p:nvSpPr>
        <p:spPr>
          <a:xfrm>
            <a:off x="6180840" y="2048040"/>
            <a:ext cx="236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~8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7"/>
          <p:cNvSpPr/>
          <p:nvPr/>
        </p:nvSpPr>
        <p:spPr>
          <a:xfrm>
            <a:off x="8643960" y="1584720"/>
            <a:ext cx="3290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63"/>
          <p:cNvSpPr/>
          <p:nvPr/>
        </p:nvSpPr>
        <p:spPr>
          <a:xfrm>
            <a:off x="8972640" y="1523520"/>
            <a:ext cx="2559960" cy="792000"/>
          </a:xfrm>
          <a:prstGeom prst="rect">
            <a:avLst/>
          </a:prstGeom>
          <a:solidFill>
            <a:srgbClr val="0f968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8"/>
          <p:cNvSpPr/>
          <p:nvPr/>
        </p:nvSpPr>
        <p:spPr>
          <a:xfrm>
            <a:off x="9070560" y="1560240"/>
            <a:ext cx="23652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 customer churn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89"/>
          <p:cNvSpPr/>
          <p:nvPr/>
        </p:nvSpPr>
        <p:spPr>
          <a:xfrm>
            <a:off x="9070560" y="2048040"/>
            <a:ext cx="236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~8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64"/>
          <p:cNvSpPr/>
          <p:nvPr/>
        </p:nvSpPr>
        <p:spPr>
          <a:xfrm>
            <a:off x="304560" y="2438280"/>
            <a:ext cx="11581920" cy="340920"/>
          </a:xfrm>
          <a:prstGeom prst="rect">
            <a:avLst/>
          </a:prstGeom>
          <a:solidFill>
            <a:srgbClr val="0d1b3e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90"/>
          <p:cNvSpPr/>
          <p:nvPr/>
        </p:nvSpPr>
        <p:spPr>
          <a:xfrm>
            <a:off x="426240" y="2450160"/>
            <a:ext cx="1121616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Calibri"/>
              </a:rPr>
              <a:t>⚠  Gold tasks run SEQUENTIALLY — parallel execution overloads the single Spark worker (TaskResultLost errors)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65"/>
          <p:cNvSpPr/>
          <p:nvPr/>
        </p:nvSpPr>
        <p:spPr>
          <a:xfrm>
            <a:off x="365400" y="2950560"/>
            <a:ext cx="548568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66"/>
          <p:cNvSpPr/>
          <p:nvPr/>
        </p:nvSpPr>
        <p:spPr>
          <a:xfrm>
            <a:off x="365400" y="2950200"/>
            <a:ext cx="5486040" cy="727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91"/>
          <p:cNvSpPr/>
          <p:nvPr/>
        </p:nvSpPr>
        <p:spPr>
          <a:xfrm>
            <a:off x="548280" y="3072240"/>
            <a:ext cx="51202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How Airflow Submits to Spark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92"/>
          <p:cNvSpPr/>
          <p:nvPr/>
        </p:nvSpPr>
        <p:spPr>
          <a:xfrm>
            <a:off x="548280" y="3486240"/>
            <a:ext cx="5120280" cy="27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Airflow scheduler has PySpark installed (same Docker network)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Uses BashOperator with explicit JAVA_HOME export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Submits spark-submit directly (not via docker exec)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JAR path: /data/jars/ (shared volume — accessible from both containers)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HDFS: Gold scripts auto-chmod 777 via WebHDFS REST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67"/>
          <p:cNvSpPr/>
          <p:nvPr/>
        </p:nvSpPr>
        <p:spPr>
          <a:xfrm>
            <a:off x="6217560" y="2950560"/>
            <a:ext cx="56077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68"/>
          <p:cNvSpPr/>
          <p:nvPr/>
        </p:nvSpPr>
        <p:spPr>
          <a:xfrm>
            <a:off x="6217560" y="2950200"/>
            <a:ext cx="560772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93"/>
          <p:cNvSpPr/>
          <p:nvPr/>
        </p:nvSpPr>
        <p:spPr>
          <a:xfrm>
            <a:off x="6400440" y="3072240"/>
            <a:ext cx="5241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Auto-Truncate on Every Run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94"/>
          <p:cNvSpPr/>
          <p:nvPr/>
        </p:nvSpPr>
        <p:spPr>
          <a:xfrm>
            <a:off x="6400440" y="3486240"/>
            <a:ext cx="5241960" cy="27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Both Gold scripts truncate their tables at startup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Uses JDBC DriverManager TRUNCATE ... RESTART IDENTITY CASCADE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Makes every run idempotent — no manual cleanup needed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Key lesson: never use spark.createDataFrame() — causes Python 3.9 vs 3.11 mismatch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 pure Spark SQL UNION ALL instead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69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487440" y="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 BI Dashboards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70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95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VISUALIZATION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1"/>
          <p:cNvSpPr/>
          <p:nvPr/>
        </p:nvSpPr>
        <p:spPr>
          <a:xfrm>
            <a:off x="365400" y="999720"/>
            <a:ext cx="11459880" cy="462600"/>
          </a:xfrm>
          <a:prstGeom prst="rect">
            <a:avLst/>
          </a:prstGeom>
          <a:solidFill>
            <a:srgbClr val="1b4fb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96"/>
          <p:cNvSpPr/>
          <p:nvPr/>
        </p:nvSpPr>
        <p:spPr>
          <a:xfrm>
            <a:off x="487440" y="999720"/>
            <a:ext cx="1121616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📦  DELIVERY PERFORMANCE DATAMART  —  3 Pages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72"/>
          <p:cNvSpPr/>
          <p:nvPr/>
        </p:nvSpPr>
        <p:spPr>
          <a:xfrm>
            <a:off x="365400" y="1548000"/>
            <a:ext cx="2559960" cy="1157760"/>
          </a:xfrm>
          <a:prstGeom prst="rect">
            <a:avLst/>
          </a:prstGeom>
          <a:solidFill>
            <a:srgbClr val="1b4fb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97"/>
          <p:cNvSpPr/>
          <p:nvPr/>
        </p:nvSpPr>
        <p:spPr>
          <a:xfrm>
            <a:off x="365400" y="169452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99K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98"/>
          <p:cNvSpPr/>
          <p:nvPr/>
        </p:nvSpPr>
        <p:spPr>
          <a:xfrm>
            <a:off x="365400" y="221976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Total Orders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73"/>
          <p:cNvSpPr/>
          <p:nvPr/>
        </p:nvSpPr>
        <p:spPr>
          <a:xfrm>
            <a:off x="3108600" y="1548000"/>
            <a:ext cx="2559960" cy="1157760"/>
          </a:xfrm>
          <a:prstGeom prst="rect">
            <a:avLst/>
          </a:prstGeom>
          <a:solidFill>
            <a:srgbClr val="0f968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99"/>
          <p:cNvSpPr/>
          <p:nvPr/>
        </p:nvSpPr>
        <p:spPr>
          <a:xfrm>
            <a:off x="3108600" y="169452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89.9%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0"/>
          <p:cNvSpPr/>
          <p:nvPr/>
        </p:nvSpPr>
        <p:spPr>
          <a:xfrm>
            <a:off x="3108600" y="221976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On-Time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4"/>
          <p:cNvSpPr/>
          <p:nvPr/>
        </p:nvSpPr>
        <p:spPr>
          <a:xfrm>
            <a:off x="5851800" y="1548000"/>
            <a:ext cx="2559960" cy="1157760"/>
          </a:xfrm>
          <a:prstGeom prst="rect">
            <a:avLst/>
          </a:prstGeom>
          <a:solidFill>
            <a:srgbClr val="3a8d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01"/>
          <p:cNvSpPr/>
          <p:nvPr/>
        </p:nvSpPr>
        <p:spPr>
          <a:xfrm>
            <a:off x="5851800" y="169452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 days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02"/>
          <p:cNvSpPr/>
          <p:nvPr/>
        </p:nvSpPr>
        <p:spPr>
          <a:xfrm>
            <a:off x="5851800" y="221976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Avg Delivery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75"/>
          <p:cNvSpPr/>
          <p:nvPr/>
        </p:nvSpPr>
        <p:spPr>
          <a:xfrm>
            <a:off x="8595000" y="1548000"/>
            <a:ext cx="2559960" cy="1157760"/>
          </a:xfrm>
          <a:prstGeom prst="rect">
            <a:avLst/>
          </a:prstGeom>
          <a:solidFill>
            <a:srgbClr val="d9770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03"/>
          <p:cNvSpPr/>
          <p:nvPr/>
        </p:nvSpPr>
        <p:spPr>
          <a:xfrm>
            <a:off x="8595000" y="169452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 days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4"/>
          <p:cNvSpPr/>
          <p:nvPr/>
        </p:nvSpPr>
        <p:spPr>
          <a:xfrm>
            <a:off x="8595000" y="221976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Avg Delay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76"/>
          <p:cNvSpPr/>
          <p:nvPr/>
        </p:nvSpPr>
        <p:spPr>
          <a:xfrm>
            <a:off x="365400" y="2828160"/>
            <a:ext cx="3656880" cy="1560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77"/>
          <p:cNvSpPr/>
          <p:nvPr/>
        </p:nvSpPr>
        <p:spPr>
          <a:xfrm>
            <a:off x="365400" y="2828160"/>
            <a:ext cx="365724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05"/>
          <p:cNvSpPr/>
          <p:nvPr/>
        </p:nvSpPr>
        <p:spPr>
          <a:xfrm>
            <a:off x="548280" y="2950200"/>
            <a:ext cx="32914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Page 1: Overview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06"/>
          <p:cNvSpPr/>
          <p:nvPr/>
        </p:nvSpPr>
        <p:spPr>
          <a:xfrm>
            <a:off x="548280" y="3364560"/>
            <a:ext cx="3291480" cy="9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 KPI cards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Donut: delivery status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on-time by region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Line/column: monthly trends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distance vs delivery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Top 10 categories by freight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8"/>
          <p:cNvSpPr/>
          <p:nvPr/>
        </p:nvSpPr>
        <p:spPr>
          <a:xfrm>
            <a:off x="4291560" y="2828160"/>
            <a:ext cx="3656880" cy="1560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79"/>
          <p:cNvSpPr/>
          <p:nvPr/>
        </p:nvSpPr>
        <p:spPr>
          <a:xfrm>
            <a:off x="4291200" y="2828160"/>
            <a:ext cx="365724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07"/>
          <p:cNvSpPr/>
          <p:nvPr/>
        </p:nvSpPr>
        <p:spPr>
          <a:xfrm>
            <a:off x="4474080" y="2950200"/>
            <a:ext cx="32914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Page 2: Deep Dive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08"/>
          <p:cNvSpPr/>
          <p:nvPr/>
        </p:nvSpPr>
        <p:spPr>
          <a:xfrm>
            <a:off x="4474080" y="3364560"/>
            <a:ext cx="3291480" cy="9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Map: customer locations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delay by seller region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delay by customer region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on-time by year &amp; quarter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Column: delivery by distance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80"/>
          <p:cNvSpPr/>
          <p:nvPr/>
        </p:nvSpPr>
        <p:spPr>
          <a:xfrm>
            <a:off x="8217360" y="2828160"/>
            <a:ext cx="3656880" cy="1560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81"/>
          <p:cNvSpPr/>
          <p:nvPr/>
        </p:nvSpPr>
        <p:spPr>
          <a:xfrm>
            <a:off x="8217000" y="2828160"/>
            <a:ext cx="365724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09"/>
          <p:cNvSpPr/>
          <p:nvPr/>
        </p:nvSpPr>
        <p:spPr>
          <a:xfrm>
            <a:off x="8399880" y="2950200"/>
            <a:ext cx="32914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Page 3: Fulfillment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10"/>
          <p:cNvSpPr/>
          <p:nvPr/>
        </p:nvSpPr>
        <p:spPr>
          <a:xfrm>
            <a:off x="8399880" y="3364560"/>
            <a:ext cx="3291480" cy="9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 KPI cards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Top 10 sellers by freight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Donut: weight categories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freight ratio by category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Bar: prep days by seller region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b728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Scatter: distance vs freight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82"/>
          <p:cNvSpPr/>
          <p:nvPr/>
        </p:nvSpPr>
        <p:spPr>
          <a:xfrm>
            <a:off x="365400" y="4571640"/>
            <a:ext cx="11459880" cy="462600"/>
          </a:xfrm>
          <a:prstGeom prst="rect">
            <a:avLst/>
          </a:prstGeom>
          <a:solidFill>
            <a:srgbClr val="0f968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11"/>
          <p:cNvSpPr/>
          <p:nvPr/>
        </p:nvSpPr>
        <p:spPr>
          <a:xfrm>
            <a:off x="487440" y="4571640"/>
            <a:ext cx="1121616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👥  CUSTOMER CHURN DATAMART  —  3 Pages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3"/>
          <p:cNvSpPr/>
          <p:nvPr/>
        </p:nvSpPr>
        <p:spPr>
          <a:xfrm>
            <a:off x="365400" y="5120280"/>
            <a:ext cx="2559960" cy="1157760"/>
          </a:xfrm>
          <a:prstGeom prst="rect">
            <a:avLst/>
          </a:prstGeom>
          <a:solidFill>
            <a:srgbClr val="0f968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12"/>
          <p:cNvSpPr/>
          <p:nvPr/>
        </p:nvSpPr>
        <p:spPr>
          <a:xfrm>
            <a:off x="365400" y="526680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96K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13"/>
          <p:cNvSpPr/>
          <p:nvPr/>
        </p:nvSpPr>
        <p:spPr>
          <a:xfrm>
            <a:off x="365400" y="579240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Unique Customers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84"/>
          <p:cNvSpPr/>
          <p:nvPr/>
        </p:nvSpPr>
        <p:spPr>
          <a:xfrm>
            <a:off x="3108600" y="5120280"/>
            <a:ext cx="2559960" cy="1157760"/>
          </a:xfrm>
          <a:prstGeom prst="rect">
            <a:avLst/>
          </a:prstGeom>
          <a:solidFill>
            <a:srgbClr val="dc262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14"/>
          <p:cNvSpPr/>
          <p:nvPr/>
        </p:nvSpPr>
        <p:spPr>
          <a:xfrm>
            <a:off x="3108600" y="526680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96.9%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5"/>
          <p:cNvSpPr/>
          <p:nvPr/>
        </p:nvSpPr>
        <p:spPr>
          <a:xfrm>
            <a:off x="3108600" y="579240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One-Time Buyers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85"/>
          <p:cNvSpPr/>
          <p:nvPr/>
        </p:nvSpPr>
        <p:spPr>
          <a:xfrm>
            <a:off x="5851800" y="5120280"/>
            <a:ext cx="2559960" cy="1157760"/>
          </a:xfrm>
          <a:prstGeom prst="rect">
            <a:avLst/>
          </a:prstGeom>
          <a:solidFill>
            <a:srgbClr val="16a3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16"/>
          <p:cNvSpPr/>
          <p:nvPr/>
        </p:nvSpPr>
        <p:spPr>
          <a:xfrm>
            <a:off x="5851800" y="526680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975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17"/>
          <p:cNvSpPr/>
          <p:nvPr/>
        </p:nvSpPr>
        <p:spPr>
          <a:xfrm>
            <a:off x="5851800" y="579240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Loyal Customers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86"/>
          <p:cNvSpPr/>
          <p:nvPr/>
        </p:nvSpPr>
        <p:spPr>
          <a:xfrm>
            <a:off x="8595000" y="5120280"/>
            <a:ext cx="2559960" cy="1157760"/>
          </a:xfrm>
          <a:prstGeom prst="rect">
            <a:avLst/>
          </a:prstGeom>
          <a:solidFill>
            <a:srgbClr val="d9770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18"/>
          <p:cNvSpPr/>
          <p:nvPr/>
        </p:nvSpPr>
        <p:spPr>
          <a:xfrm>
            <a:off x="8595000" y="5266800"/>
            <a:ext cx="255996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19"/>
          <p:cNvSpPr/>
          <p:nvPr/>
        </p:nvSpPr>
        <p:spPr>
          <a:xfrm>
            <a:off x="8595000" y="5792400"/>
            <a:ext cx="255996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Calibri"/>
                <a:ea typeface="Calibri"/>
              </a:rPr>
              <a:t>Churn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87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20"/>
          <p:cNvSpPr/>
          <p:nvPr/>
        </p:nvSpPr>
        <p:spPr>
          <a:xfrm>
            <a:off x="487440" y="0"/>
            <a:ext cx="731484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Business Insights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88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1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INSIGHTS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89"/>
          <p:cNvSpPr/>
          <p:nvPr/>
        </p:nvSpPr>
        <p:spPr>
          <a:xfrm>
            <a:off x="365400" y="999720"/>
            <a:ext cx="5486040" cy="46260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22"/>
          <p:cNvSpPr/>
          <p:nvPr/>
        </p:nvSpPr>
        <p:spPr>
          <a:xfrm>
            <a:off x="426240" y="999720"/>
            <a:ext cx="536400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📦  Delivery Performance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90"/>
          <p:cNvSpPr/>
          <p:nvPr/>
        </p:nvSpPr>
        <p:spPr>
          <a:xfrm>
            <a:off x="365400" y="1560240"/>
            <a:ext cx="5485680" cy="5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23"/>
          <p:cNvSpPr/>
          <p:nvPr/>
        </p:nvSpPr>
        <p:spPr>
          <a:xfrm>
            <a:off x="487440" y="1609200"/>
            <a:ext cx="14626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89.9%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24"/>
          <p:cNvSpPr/>
          <p:nvPr/>
        </p:nvSpPr>
        <p:spPr>
          <a:xfrm>
            <a:off x="2011320" y="160920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On-time delivery rate overall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91"/>
          <p:cNvSpPr/>
          <p:nvPr/>
        </p:nvSpPr>
        <p:spPr>
          <a:xfrm>
            <a:off x="365400" y="2219040"/>
            <a:ext cx="5485680" cy="560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25"/>
          <p:cNvSpPr/>
          <p:nvPr/>
        </p:nvSpPr>
        <p:spPr>
          <a:xfrm>
            <a:off x="487440" y="2267280"/>
            <a:ext cx="14626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2016→2018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26"/>
          <p:cNvSpPr/>
          <p:nvPr/>
        </p:nvSpPr>
        <p:spPr>
          <a:xfrm>
            <a:off x="2011320" y="226728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On-time improved 75% → 95% — rapid maturity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92"/>
          <p:cNvSpPr/>
          <p:nvPr/>
        </p:nvSpPr>
        <p:spPr>
          <a:xfrm>
            <a:off x="365400" y="2877120"/>
            <a:ext cx="5485680" cy="5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27"/>
          <p:cNvSpPr/>
          <p:nvPr/>
        </p:nvSpPr>
        <p:spPr>
          <a:xfrm>
            <a:off x="487440" y="2925720"/>
            <a:ext cx="14626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~50 days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28"/>
          <p:cNvSpPr/>
          <p:nvPr/>
        </p:nvSpPr>
        <p:spPr>
          <a:xfrm>
            <a:off x="2011320" y="292572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New Valley avg delay when late (most remote)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93"/>
          <p:cNvSpPr/>
          <p:nvPr/>
        </p:nvSpPr>
        <p:spPr>
          <a:xfrm>
            <a:off x="365400" y="3535560"/>
            <a:ext cx="5485680" cy="560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29"/>
          <p:cNvSpPr/>
          <p:nvPr/>
        </p:nvSpPr>
        <p:spPr>
          <a:xfrm>
            <a:off x="487440" y="3584160"/>
            <a:ext cx="14626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~20 days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30"/>
          <p:cNvSpPr/>
          <p:nvPr/>
        </p:nvSpPr>
        <p:spPr>
          <a:xfrm>
            <a:off x="2011320" y="358416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Suez sellers cause highest delays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94"/>
          <p:cNvSpPr/>
          <p:nvPr/>
        </p:nvSpPr>
        <p:spPr>
          <a:xfrm>
            <a:off x="365400" y="4194000"/>
            <a:ext cx="5485680" cy="5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31"/>
          <p:cNvSpPr/>
          <p:nvPr/>
        </p:nvSpPr>
        <p:spPr>
          <a:xfrm>
            <a:off x="487440" y="4242240"/>
            <a:ext cx="14626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93.4%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32"/>
          <p:cNvSpPr/>
          <p:nvPr/>
        </p:nvSpPr>
        <p:spPr>
          <a:xfrm>
            <a:off x="2011320" y="424224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home_comfort_2 freight ratio — anomaly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95"/>
          <p:cNvSpPr/>
          <p:nvPr/>
        </p:nvSpPr>
        <p:spPr>
          <a:xfrm>
            <a:off x="365400" y="4852080"/>
            <a:ext cx="5485680" cy="560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33"/>
          <p:cNvSpPr/>
          <p:nvPr/>
        </p:nvSpPr>
        <p:spPr>
          <a:xfrm>
            <a:off x="487440" y="4901040"/>
            <a:ext cx="14626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b4fbf"/>
                </a:solidFill>
                <a:effectLst/>
                <a:uFillTx/>
                <a:latin typeface="Calibri"/>
                <a:ea typeface="Calibri"/>
              </a:rPr>
              <a:t>8.5 days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34"/>
          <p:cNvSpPr/>
          <p:nvPr/>
        </p:nvSpPr>
        <p:spPr>
          <a:xfrm>
            <a:off x="2011320" y="490104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Monufia sellers slowest preparation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96"/>
          <p:cNvSpPr/>
          <p:nvPr/>
        </p:nvSpPr>
        <p:spPr>
          <a:xfrm>
            <a:off x="6217560" y="999720"/>
            <a:ext cx="5607720" cy="46260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35"/>
          <p:cNvSpPr/>
          <p:nvPr/>
        </p:nvSpPr>
        <p:spPr>
          <a:xfrm>
            <a:off x="6278400" y="999720"/>
            <a:ext cx="548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👥  Customer Churn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97"/>
          <p:cNvSpPr/>
          <p:nvPr/>
        </p:nvSpPr>
        <p:spPr>
          <a:xfrm>
            <a:off x="6217560" y="1560240"/>
            <a:ext cx="5607720" cy="5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36"/>
          <p:cNvSpPr/>
          <p:nvPr/>
        </p:nvSpPr>
        <p:spPr>
          <a:xfrm>
            <a:off x="6339240" y="1609200"/>
            <a:ext cx="1584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96.88%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7"/>
          <p:cNvSpPr/>
          <p:nvPr/>
        </p:nvSpPr>
        <p:spPr>
          <a:xfrm>
            <a:off x="7985520" y="160920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Customers purchased only once — extreme 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98"/>
          <p:cNvSpPr/>
          <p:nvPr/>
        </p:nvSpPr>
        <p:spPr>
          <a:xfrm>
            <a:off x="6217560" y="2219040"/>
            <a:ext cx="5607720" cy="560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38"/>
          <p:cNvSpPr/>
          <p:nvPr/>
        </p:nvSpPr>
        <p:spPr>
          <a:xfrm>
            <a:off x="6339240" y="2267280"/>
            <a:ext cx="1584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975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39"/>
          <p:cNvSpPr/>
          <p:nvPr/>
        </p:nvSpPr>
        <p:spPr>
          <a:xfrm>
            <a:off x="7985520" y="226728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Loyal customers out of 96,096 total — only 1%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99"/>
          <p:cNvSpPr/>
          <p:nvPr/>
        </p:nvSpPr>
        <p:spPr>
          <a:xfrm>
            <a:off x="6217560" y="2877120"/>
            <a:ext cx="5607720" cy="5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40"/>
          <p:cNvSpPr/>
          <p:nvPr/>
        </p:nvSpPr>
        <p:spPr>
          <a:xfrm>
            <a:off x="6339240" y="2925720"/>
            <a:ext cx="1584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2.1x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41"/>
          <p:cNvSpPr/>
          <p:nvPr/>
        </p:nvSpPr>
        <p:spPr>
          <a:xfrm>
            <a:off x="7985520" y="292572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Loyal customers spend more (3,200 vs 1,500 EGP)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00"/>
          <p:cNvSpPr/>
          <p:nvPr/>
        </p:nvSpPr>
        <p:spPr>
          <a:xfrm>
            <a:off x="6217560" y="3535560"/>
            <a:ext cx="5607720" cy="560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42"/>
          <p:cNvSpPr/>
          <p:nvPr/>
        </p:nvSpPr>
        <p:spPr>
          <a:xfrm>
            <a:off x="6339240" y="3584160"/>
            <a:ext cx="1584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57 vs 129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43"/>
          <p:cNvSpPr/>
          <p:nvPr/>
        </p:nvSpPr>
        <p:spPr>
          <a:xfrm>
            <a:off x="7985520" y="358416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Churned vs Loyal days between orders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01"/>
          <p:cNvSpPr/>
          <p:nvPr/>
        </p:nvSpPr>
        <p:spPr>
          <a:xfrm>
            <a:off x="6217560" y="4194000"/>
            <a:ext cx="5607720" cy="560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44"/>
          <p:cNvSpPr/>
          <p:nvPr/>
        </p:nvSpPr>
        <p:spPr>
          <a:xfrm>
            <a:off x="6339240" y="4242240"/>
            <a:ext cx="1584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5.2%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45"/>
          <p:cNvSpPr/>
          <p:nvPr/>
        </p:nvSpPr>
        <p:spPr>
          <a:xfrm>
            <a:off x="7985520" y="424224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North Sinai highest churn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02"/>
          <p:cNvSpPr/>
          <p:nvPr/>
        </p:nvSpPr>
        <p:spPr>
          <a:xfrm>
            <a:off x="6217560" y="4852080"/>
            <a:ext cx="5607720" cy="5601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46"/>
          <p:cNvSpPr/>
          <p:nvPr/>
        </p:nvSpPr>
        <p:spPr>
          <a:xfrm>
            <a:off x="6339240" y="4901040"/>
            <a:ext cx="158472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9680"/>
                </a:solidFill>
                <a:effectLst/>
                <a:uFillTx/>
                <a:latin typeface="Calibri"/>
                <a:ea typeface="Calibri"/>
              </a:rPr>
              <a:t>57M EGP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47"/>
          <p:cNvSpPr/>
          <p:nvPr/>
        </p:nvSpPr>
        <p:spPr>
          <a:xfrm>
            <a:off x="7985520" y="4901040"/>
            <a:ext cx="359604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Cairo total revenue — highest retention ROI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103"/>
          <p:cNvSpPr/>
          <p:nvPr/>
        </p:nvSpPr>
        <p:spPr>
          <a:xfrm>
            <a:off x="0" y="0"/>
            <a:ext cx="12191400" cy="8532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5"/>
          <p:cNvSpPr/>
          <p:nvPr/>
        </p:nvSpPr>
        <p:spPr>
          <a:xfrm>
            <a:off x="487440" y="0"/>
            <a:ext cx="853380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Technical Challenges &amp; Solutions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04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8"/>
          <p:cNvSpPr/>
          <p:nvPr/>
        </p:nvSpPr>
        <p:spPr>
          <a:xfrm>
            <a:off x="9753120" y="243720"/>
            <a:ext cx="2194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LESSONS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05"/>
          <p:cNvSpPr/>
          <p:nvPr/>
        </p:nvSpPr>
        <p:spPr>
          <a:xfrm>
            <a:off x="365400" y="999360"/>
            <a:ext cx="5607720" cy="2620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06"/>
          <p:cNvSpPr/>
          <p:nvPr/>
        </p:nvSpPr>
        <p:spPr>
          <a:xfrm>
            <a:off x="365400" y="999360"/>
            <a:ext cx="5607720" cy="7272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49"/>
          <p:cNvSpPr/>
          <p:nvPr/>
        </p:nvSpPr>
        <p:spPr>
          <a:xfrm>
            <a:off x="548280" y="1121400"/>
            <a:ext cx="5241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HDFS Permission Failures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07"/>
          <p:cNvSpPr/>
          <p:nvPr/>
        </p:nvSpPr>
        <p:spPr>
          <a:xfrm>
            <a:off x="548280" y="1584720"/>
            <a:ext cx="974880" cy="267840"/>
          </a:xfrm>
          <a:prstGeom prst="rect">
            <a:avLst/>
          </a:prstGeom>
          <a:solidFill>
            <a:srgbClr val="dc262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50"/>
          <p:cNvSpPr/>
          <p:nvPr/>
        </p:nvSpPr>
        <p:spPr>
          <a:xfrm>
            <a:off x="548280" y="158472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51"/>
          <p:cNvSpPr/>
          <p:nvPr/>
        </p:nvSpPr>
        <p:spPr>
          <a:xfrm>
            <a:off x="1645560" y="1560240"/>
            <a:ext cx="414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Different users (spark vs airflow) can't write to HDFS folders created by the other user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08"/>
          <p:cNvSpPr/>
          <p:nvPr/>
        </p:nvSpPr>
        <p:spPr>
          <a:xfrm>
            <a:off x="548280" y="2035800"/>
            <a:ext cx="974880" cy="267840"/>
          </a:xfrm>
          <a:prstGeom prst="rect">
            <a:avLst/>
          </a:prstGeom>
          <a:solidFill>
            <a:srgbClr val="16a34a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52"/>
          <p:cNvSpPr/>
          <p:nvPr/>
        </p:nvSpPr>
        <p:spPr>
          <a:xfrm>
            <a:off x="548280" y="203580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53"/>
          <p:cNvSpPr/>
          <p:nvPr/>
        </p:nvSpPr>
        <p:spPr>
          <a:xfrm>
            <a:off x="1645560" y="2011320"/>
            <a:ext cx="41446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Both Gold scripts call WebHDFS REST API (curl) at startup to chmod 777 all gold directories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09"/>
          <p:cNvSpPr/>
          <p:nvPr/>
        </p:nvSpPr>
        <p:spPr>
          <a:xfrm>
            <a:off x="6278400" y="999360"/>
            <a:ext cx="5607720" cy="2620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10"/>
          <p:cNvSpPr/>
          <p:nvPr/>
        </p:nvSpPr>
        <p:spPr>
          <a:xfrm>
            <a:off x="6278400" y="999360"/>
            <a:ext cx="5607720" cy="727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54"/>
          <p:cNvSpPr/>
          <p:nvPr/>
        </p:nvSpPr>
        <p:spPr>
          <a:xfrm>
            <a:off x="6461280" y="1121400"/>
            <a:ext cx="5241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Python Version Mismatch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11"/>
          <p:cNvSpPr/>
          <p:nvPr/>
        </p:nvSpPr>
        <p:spPr>
          <a:xfrm>
            <a:off x="6461280" y="1584720"/>
            <a:ext cx="974880" cy="267840"/>
          </a:xfrm>
          <a:prstGeom prst="rect">
            <a:avLst/>
          </a:prstGeom>
          <a:solidFill>
            <a:srgbClr val="dc262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55"/>
          <p:cNvSpPr/>
          <p:nvPr/>
        </p:nvSpPr>
        <p:spPr>
          <a:xfrm>
            <a:off x="6461280" y="158472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56"/>
          <p:cNvSpPr/>
          <p:nvPr/>
        </p:nvSpPr>
        <p:spPr>
          <a:xfrm>
            <a:off x="7558560" y="1560240"/>
            <a:ext cx="414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Airflow runs Python 3.9; Spark workers run Python 3.11 — createDataFrame() triggers worker execution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12"/>
          <p:cNvSpPr/>
          <p:nvPr/>
        </p:nvSpPr>
        <p:spPr>
          <a:xfrm>
            <a:off x="6461280" y="2035800"/>
            <a:ext cx="974880" cy="267840"/>
          </a:xfrm>
          <a:prstGeom prst="rect">
            <a:avLst/>
          </a:prstGeom>
          <a:solidFill>
            <a:srgbClr val="16a34a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57"/>
          <p:cNvSpPr/>
          <p:nvPr/>
        </p:nvSpPr>
        <p:spPr>
          <a:xfrm>
            <a:off x="6461280" y="203580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58"/>
          <p:cNvSpPr/>
          <p:nvPr/>
        </p:nvSpPr>
        <p:spPr>
          <a:xfrm>
            <a:off x="7558560" y="2011320"/>
            <a:ext cx="41446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Replace all spark.createDataFrame() calls with pure Spark SQL UNION ALL — no Python worker needed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13"/>
          <p:cNvSpPr/>
          <p:nvPr/>
        </p:nvSpPr>
        <p:spPr>
          <a:xfrm>
            <a:off x="365400" y="3864600"/>
            <a:ext cx="5607720" cy="2620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14"/>
          <p:cNvSpPr/>
          <p:nvPr/>
        </p:nvSpPr>
        <p:spPr>
          <a:xfrm>
            <a:off x="365400" y="3864600"/>
            <a:ext cx="5607720" cy="72720"/>
          </a:xfrm>
          <a:prstGeom prst="rect">
            <a:avLst/>
          </a:prstGeom>
          <a:solidFill>
            <a:srgbClr val="1b4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59"/>
          <p:cNvSpPr/>
          <p:nvPr/>
        </p:nvSpPr>
        <p:spPr>
          <a:xfrm>
            <a:off x="548280" y="3986640"/>
            <a:ext cx="5241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JAR Not Found from Airflow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15"/>
          <p:cNvSpPr/>
          <p:nvPr/>
        </p:nvSpPr>
        <p:spPr>
          <a:xfrm>
            <a:off x="548280" y="4449600"/>
            <a:ext cx="974880" cy="267840"/>
          </a:xfrm>
          <a:prstGeom prst="rect">
            <a:avLst/>
          </a:prstGeom>
          <a:solidFill>
            <a:srgbClr val="dc262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60"/>
          <p:cNvSpPr/>
          <p:nvPr/>
        </p:nvSpPr>
        <p:spPr>
          <a:xfrm>
            <a:off x="548280" y="444960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61"/>
          <p:cNvSpPr/>
          <p:nvPr/>
        </p:nvSpPr>
        <p:spPr>
          <a:xfrm>
            <a:off x="1645560" y="4425120"/>
            <a:ext cx="414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/opt/spark/jars/postgresql-42.7.3.jar exists on Spark container, not on Airflow container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16"/>
          <p:cNvSpPr/>
          <p:nvPr/>
        </p:nvSpPr>
        <p:spPr>
          <a:xfrm>
            <a:off x="548280" y="4901040"/>
            <a:ext cx="974880" cy="267840"/>
          </a:xfrm>
          <a:prstGeom prst="rect">
            <a:avLst/>
          </a:prstGeom>
          <a:solidFill>
            <a:srgbClr val="16a34a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62"/>
          <p:cNvSpPr/>
          <p:nvPr/>
        </p:nvSpPr>
        <p:spPr>
          <a:xfrm>
            <a:off x="548280" y="490104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63"/>
          <p:cNvSpPr/>
          <p:nvPr/>
        </p:nvSpPr>
        <p:spPr>
          <a:xfrm>
            <a:off x="1645560" y="4876560"/>
            <a:ext cx="41446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Copy JAR to shared volume at /data/jars/ — accessible from all containers via 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17"/>
          <p:cNvSpPr/>
          <p:nvPr/>
        </p:nvSpPr>
        <p:spPr>
          <a:xfrm>
            <a:off x="6278400" y="3864600"/>
            <a:ext cx="5607720" cy="2620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18"/>
          <p:cNvSpPr/>
          <p:nvPr/>
        </p:nvSpPr>
        <p:spPr>
          <a:xfrm>
            <a:off x="6278400" y="3864600"/>
            <a:ext cx="5607720" cy="72720"/>
          </a:xfrm>
          <a:prstGeom prst="rect">
            <a:avLst/>
          </a:prstGeom>
          <a:solidFill>
            <a:srgbClr val="0f9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64"/>
          <p:cNvSpPr/>
          <p:nvPr/>
        </p:nvSpPr>
        <p:spPr>
          <a:xfrm>
            <a:off x="6461280" y="3986640"/>
            <a:ext cx="5241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Parallel Gold Tasks Crash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19"/>
          <p:cNvSpPr/>
          <p:nvPr/>
        </p:nvSpPr>
        <p:spPr>
          <a:xfrm>
            <a:off x="6461280" y="4449600"/>
            <a:ext cx="974880" cy="267840"/>
          </a:xfrm>
          <a:prstGeom prst="rect">
            <a:avLst/>
          </a:prstGeom>
          <a:solidFill>
            <a:srgbClr val="dc262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65"/>
          <p:cNvSpPr/>
          <p:nvPr/>
        </p:nvSpPr>
        <p:spPr>
          <a:xfrm>
            <a:off x="6461280" y="444960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66"/>
          <p:cNvSpPr/>
          <p:nvPr/>
        </p:nvSpPr>
        <p:spPr>
          <a:xfrm>
            <a:off x="7558560" y="4425120"/>
            <a:ext cx="414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Both Gold tasks running simultaneously overload the single Spark worker → TaskResultLost errors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20"/>
          <p:cNvSpPr/>
          <p:nvPr/>
        </p:nvSpPr>
        <p:spPr>
          <a:xfrm>
            <a:off x="6461280" y="4901040"/>
            <a:ext cx="974880" cy="267840"/>
          </a:xfrm>
          <a:prstGeom prst="rect">
            <a:avLst/>
          </a:prstGeom>
          <a:solidFill>
            <a:srgbClr val="16a34a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67"/>
          <p:cNvSpPr/>
          <p:nvPr/>
        </p:nvSpPr>
        <p:spPr>
          <a:xfrm>
            <a:off x="6461280" y="4901040"/>
            <a:ext cx="974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16a34a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68"/>
          <p:cNvSpPr/>
          <p:nvPr/>
        </p:nvSpPr>
        <p:spPr>
          <a:xfrm>
            <a:off x="7558560" y="4876560"/>
            <a:ext cx="414468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Change DAG from parallel to sequential: gold_delivery &gt;&gt; gold_churn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"/>
          <p:cNvPicPr/>
          <p:nvPr/>
        </p:nvPicPr>
        <p:blipFill>
          <a:blip r:embed="rId1"/>
          <a:stretch/>
        </p:blipFill>
        <p:spPr>
          <a:xfrm>
            <a:off x="2213640" y="329400"/>
            <a:ext cx="7832880" cy="623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"/>
          <p:cNvPicPr/>
          <p:nvPr/>
        </p:nvPicPr>
        <p:blipFill>
          <a:blip r:embed="rId1"/>
          <a:stretch/>
        </p:blipFill>
        <p:spPr>
          <a:xfrm>
            <a:off x="2286000" y="1067400"/>
            <a:ext cx="8023680" cy="556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"/>
          <p:cNvPicPr/>
          <p:nvPr/>
        </p:nvPicPr>
        <p:blipFill>
          <a:blip r:embed="rId1"/>
          <a:stretch/>
        </p:blipFill>
        <p:spPr>
          <a:xfrm>
            <a:off x="1996920" y="914760"/>
            <a:ext cx="8518680" cy="480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"/>
          <p:cNvPicPr/>
          <p:nvPr/>
        </p:nvPicPr>
        <p:blipFill>
          <a:blip r:embed="rId1"/>
          <a:stretch/>
        </p:blipFill>
        <p:spPr>
          <a:xfrm>
            <a:off x="2591640" y="1608480"/>
            <a:ext cx="7695720" cy="433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"/>
          <p:cNvPicPr/>
          <p:nvPr/>
        </p:nvPicPr>
        <p:blipFill>
          <a:blip r:embed="rId1"/>
          <a:stretch/>
        </p:blipFill>
        <p:spPr>
          <a:xfrm>
            <a:off x="1874520" y="1026720"/>
            <a:ext cx="8511120" cy="483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"/>
          <p:cNvPicPr/>
          <p:nvPr/>
        </p:nvPicPr>
        <p:blipFill>
          <a:blip r:embed="rId1"/>
          <a:stretch/>
        </p:blipFill>
        <p:spPr>
          <a:xfrm>
            <a:off x="2118240" y="664920"/>
            <a:ext cx="8023680" cy="556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"/>
          <p:cNvPicPr/>
          <p:nvPr/>
        </p:nvPicPr>
        <p:blipFill>
          <a:blip r:embed="rId1"/>
          <a:stretch/>
        </p:blipFill>
        <p:spPr>
          <a:xfrm>
            <a:off x="1855440" y="1026720"/>
            <a:ext cx="8549280" cy="483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"/>
          <p:cNvPicPr/>
          <p:nvPr/>
        </p:nvPicPr>
        <p:blipFill>
          <a:blip r:embed="rId1"/>
          <a:stretch/>
        </p:blipFill>
        <p:spPr>
          <a:xfrm>
            <a:off x="1253520" y="809640"/>
            <a:ext cx="9753120" cy="527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Batch ETL Phase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One-shot processing of historical silver-layer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07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5" name="Picture 4" descr="batch_pipeline.gif"/>
          <p:cNvPicPr/>
          <p:nvPr/>
        </p:nvPicPr>
        <p:blipFill>
          <a:blip r:embed="rId1"/>
          <a:stretch/>
        </p:blipFill>
        <p:spPr>
          <a:xfrm>
            <a:off x="365760" y="1463040"/>
            <a:ext cx="8046360" cy="29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Rounded Rectangle 5"/>
          <p:cNvSpPr/>
          <p:nvPr/>
        </p:nvSpPr>
        <p:spPr>
          <a:xfrm>
            <a:off x="8686800" y="1508760"/>
            <a:ext cx="3108600" cy="4388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6"/>
          <p:cNvSpPr/>
          <p:nvPr/>
        </p:nvSpPr>
        <p:spPr>
          <a:xfrm>
            <a:off x="8915400" y="16916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Pipeline Stages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7"/>
          <p:cNvSpPr/>
          <p:nvPr/>
        </p:nvSpPr>
        <p:spPr>
          <a:xfrm>
            <a:off x="8915400" y="2148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8"/>
          <p:cNvSpPr/>
          <p:nvPr/>
        </p:nvSpPr>
        <p:spPr>
          <a:xfrm>
            <a:off x="9326880" y="21488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Read 9 CSVs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9"/>
          <p:cNvSpPr/>
          <p:nvPr/>
        </p:nvSpPr>
        <p:spPr>
          <a:xfrm>
            <a:off x="9326880" y="24048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from /data/silver_csv/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10"/>
          <p:cNvSpPr/>
          <p:nvPr/>
        </p:nvSpPr>
        <p:spPr>
          <a:xfrm>
            <a:off x="8915400" y="28620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11"/>
          <p:cNvSpPr/>
          <p:nvPr/>
        </p:nvSpPr>
        <p:spPr>
          <a:xfrm>
            <a:off x="9326880" y="28620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ADA+ Audit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12"/>
          <p:cNvSpPr/>
          <p:nvPr/>
        </p:nvSpPr>
        <p:spPr>
          <a:xfrm>
            <a:off x="9326880" y="31179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null &amp; duplicate detection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13"/>
          <p:cNvSpPr/>
          <p:nvPr/>
        </p:nvSpPr>
        <p:spPr>
          <a:xfrm>
            <a:off x="8915400" y="35751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3.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14"/>
          <p:cNvSpPr/>
          <p:nvPr/>
        </p:nvSpPr>
        <p:spPr>
          <a:xfrm>
            <a:off x="9326880" y="35751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Clean &amp; cast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15"/>
          <p:cNvSpPr/>
          <p:nvPr/>
        </p:nvSpPr>
        <p:spPr>
          <a:xfrm>
            <a:off x="9326880" y="38314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timestamps, integers, EGP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16"/>
          <p:cNvSpPr/>
          <p:nvPr/>
        </p:nvSpPr>
        <p:spPr>
          <a:xfrm>
            <a:off x="8915400" y="4288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4.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17"/>
          <p:cNvSpPr/>
          <p:nvPr/>
        </p:nvSpPr>
        <p:spPr>
          <a:xfrm>
            <a:off x="9326880" y="42886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Persist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18"/>
          <p:cNvSpPr/>
          <p:nvPr/>
        </p:nvSpPr>
        <p:spPr>
          <a:xfrm>
            <a:off x="9326880" y="45446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Parquet + PostgreSQL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9"/>
          <p:cNvSpPr/>
          <p:nvPr/>
        </p:nvSpPr>
        <p:spPr>
          <a:xfrm>
            <a:off x="8915400" y="5001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5.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20"/>
          <p:cNvSpPr/>
          <p:nvPr/>
        </p:nvSpPr>
        <p:spPr>
          <a:xfrm>
            <a:off x="9326880" y="50018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Export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21"/>
          <p:cNvSpPr/>
          <p:nvPr/>
        </p:nvSpPr>
        <p:spPr>
          <a:xfrm>
            <a:off x="9326880" y="52578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clean CSVs for sharing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2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23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Batch Phase — Data Validation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Row counts after cleaning, invalid rows removed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08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4"/>
          <p:cNvSpPr/>
          <p:nvPr/>
        </p:nvSpPr>
        <p:spPr>
          <a:xfrm>
            <a:off x="548640" y="1920240"/>
            <a:ext cx="7040520" cy="180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5"/>
          <p:cNvSpPr/>
          <p:nvPr/>
        </p:nvSpPr>
        <p:spPr>
          <a:xfrm>
            <a:off x="640080" y="162756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6"/>
          <p:cNvSpPr/>
          <p:nvPr/>
        </p:nvSpPr>
        <p:spPr>
          <a:xfrm>
            <a:off x="2651760" y="162756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Rows after cleaning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7"/>
          <p:cNvSpPr/>
          <p:nvPr/>
        </p:nvSpPr>
        <p:spPr>
          <a:xfrm>
            <a:off x="4389120" y="162756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Notes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8"/>
          <p:cNvSpPr/>
          <p:nvPr/>
        </p:nvSpPr>
        <p:spPr>
          <a:xfrm>
            <a:off x="640080" y="20116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customers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9"/>
          <p:cNvSpPr/>
          <p:nvPr/>
        </p:nvSpPr>
        <p:spPr>
          <a:xfrm>
            <a:off x="2651760" y="20116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99,441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10"/>
          <p:cNvSpPr/>
          <p:nvPr/>
        </p:nvSpPr>
        <p:spPr>
          <a:xfrm>
            <a:off x="4389120" y="201168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joined with governorate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11"/>
          <p:cNvSpPr/>
          <p:nvPr/>
        </p:nvSpPr>
        <p:spPr>
          <a:xfrm>
            <a:off x="548640" y="2322720"/>
            <a:ext cx="7040520" cy="383760"/>
          </a:xfrm>
          <a:prstGeom prst="rect">
            <a:avLst/>
          </a:prstGeom>
          <a:solidFill>
            <a:srgbClr val="f8f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12"/>
          <p:cNvSpPr/>
          <p:nvPr/>
        </p:nvSpPr>
        <p:spPr>
          <a:xfrm>
            <a:off x="640080" y="23958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orders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13"/>
          <p:cNvSpPr/>
          <p:nvPr/>
        </p:nvSpPr>
        <p:spPr>
          <a:xfrm>
            <a:off x="2651760" y="239580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99,441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14"/>
          <p:cNvSpPr/>
          <p:nvPr/>
        </p:nvSpPr>
        <p:spPr>
          <a:xfrm>
            <a:off x="4389120" y="239580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5 date cols cast to timestamp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15"/>
          <p:cNvSpPr/>
          <p:nvPr/>
        </p:nvSpPr>
        <p:spPr>
          <a:xfrm>
            <a:off x="640080" y="277992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order_items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16"/>
          <p:cNvSpPr/>
          <p:nvPr/>
        </p:nvSpPr>
        <p:spPr>
          <a:xfrm>
            <a:off x="2651760" y="2779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112,650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17"/>
          <p:cNvSpPr/>
          <p:nvPr/>
        </p:nvSpPr>
        <p:spPr>
          <a:xfrm>
            <a:off x="4389120" y="27799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EGP price + freight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18"/>
          <p:cNvSpPr/>
          <p:nvPr/>
        </p:nvSpPr>
        <p:spPr>
          <a:xfrm>
            <a:off x="548640" y="3090600"/>
            <a:ext cx="7040520" cy="383760"/>
          </a:xfrm>
          <a:prstGeom prst="rect">
            <a:avLst/>
          </a:prstGeom>
          <a:solidFill>
            <a:srgbClr val="f8f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TextBox 19"/>
          <p:cNvSpPr/>
          <p:nvPr/>
        </p:nvSpPr>
        <p:spPr>
          <a:xfrm>
            <a:off x="640080" y="31636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payments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20"/>
          <p:cNvSpPr/>
          <p:nvPr/>
        </p:nvSpPr>
        <p:spPr>
          <a:xfrm>
            <a:off x="2651760" y="31636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103,886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21"/>
          <p:cNvSpPr/>
          <p:nvPr/>
        </p:nvSpPr>
        <p:spPr>
          <a:xfrm>
            <a:off x="4389120" y="316368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installments cast to 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22"/>
          <p:cNvSpPr/>
          <p:nvPr/>
        </p:nvSpPr>
        <p:spPr>
          <a:xfrm>
            <a:off x="640080" y="35478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reviews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23"/>
          <p:cNvSpPr/>
          <p:nvPr/>
        </p:nvSpPr>
        <p:spPr>
          <a:xfrm>
            <a:off x="2651760" y="354780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100,789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24"/>
          <p:cNvSpPr/>
          <p:nvPr/>
        </p:nvSpPr>
        <p:spPr>
          <a:xfrm>
            <a:off x="4389120" y="354780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3,373 invalid rows removed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Rectangle 25"/>
          <p:cNvSpPr/>
          <p:nvPr/>
        </p:nvSpPr>
        <p:spPr>
          <a:xfrm>
            <a:off x="548640" y="3858840"/>
            <a:ext cx="7040520" cy="383760"/>
          </a:xfrm>
          <a:prstGeom prst="rect">
            <a:avLst/>
          </a:prstGeom>
          <a:solidFill>
            <a:srgbClr val="f8f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TextBox 26"/>
          <p:cNvSpPr/>
          <p:nvPr/>
        </p:nvSpPr>
        <p:spPr>
          <a:xfrm>
            <a:off x="640080" y="393192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products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27"/>
          <p:cNvSpPr/>
          <p:nvPr/>
        </p:nvSpPr>
        <p:spPr>
          <a:xfrm>
            <a:off x="2651760" y="3931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32,951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28"/>
          <p:cNvSpPr/>
          <p:nvPr/>
        </p:nvSpPr>
        <p:spPr>
          <a:xfrm>
            <a:off x="4389120" y="39319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category + dimensions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29"/>
          <p:cNvSpPr/>
          <p:nvPr/>
        </p:nvSpPr>
        <p:spPr>
          <a:xfrm>
            <a:off x="640080" y="431604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sellers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30"/>
          <p:cNvSpPr/>
          <p:nvPr/>
        </p:nvSpPr>
        <p:spPr>
          <a:xfrm>
            <a:off x="2651760" y="43160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3,095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31"/>
          <p:cNvSpPr/>
          <p:nvPr/>
        </p:nvSpPr>
        <p:spPr>
          <a:xfrm>
            <a:off x="4389120" y="43160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governorate joined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32"/>
          <p:cNvSpPr/>
          <p:nvPr/>
        </p:nvSpPr>
        <p:spPr>
          <a:xfrm>
            <a:off x="548640" y="4626720"/>
            <a:ext cx="7040520" cy="383760"/>
          </a:xfrm>
          <a:prstGeom prst="rect">
            <a:avLst/>
          </a:prstGeom>
          <a:solidFill>
            <a:srgbClr val="f8f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33"/>
          <p:cNvSpPr/>
          <p:nvPr/>
        </p:nvSpPr>
        <p:spPr>
          <a:xfrm>
            <a:off x="640080" y="470016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geolocation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34"/>
          <p:cNvSpPr/>
          <p:nvPr/>
        </p:nvSpPr>
        <p:spPr>
          <a:xfrm>
            <a:off x="2651760" y="470016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9,637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35"/>
          <p:cNvSpPr/>
          <p:nvPr/>
        </p:nvSpPr>
        <p:spPr>
          <a:xfrm>
            <a:off x="4389120" y="470016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Egypt-localized coordinates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36"/>
          <p:cNvSpPr/>
          <p:nvPr/>
        </p:nvSpPr>
        <p:spPr>
          <a:xfrm>
            <a:off x="640080" y="508392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category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37"/>
          <p:cNvSpPr/>
          <p:nvPr/>
        </p:nvSpPr>
        <p:spPr>
          <a:xfrm>
            <a:off x="2651760" y="5083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74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38"/>
          <p:cNvSpPr/>
          <p:nvPr/>
        </p:nvSpPr>
        <p:spPr>
          <a:xfrm>
            <a:off x="4389120" y="50839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Arabic + English mapping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ounded Rectangle 39"/>
          <p:cNvSpPr/>
          <p:nvPr/>
        </p:nvSpPr>
        <p:spPr>
          <a:xfrm>
            <a:off x="7955280" y="1554480"/>
            <a:ext cx="3840120" cy="475452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TextBox 40"/>
          <p:cNvSpPr/>
          <p:nvPr/>
        </p:nvSpPr>
        <p:spPr>
          <a:xfrm>
            <a:off x="8183880" y="1737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Cleaning Actions Performed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Oval 41"/>
          <p:cNvSpPr/>
          <p:nvPr/>
        </p:nvSpPr>
        <p:spPr>
          <a:xfrm>
            <a:off x="8183880" y="2194560"/>
            <a:ext cx="200880" cy="20088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Box 42"/>
          <p:cNvSpPr/>
          <p:nvPr/>
        </p:nvSpPr>
        <p:spPr>
          <a:xfrm>
            <a:off x="8549640" y="21488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Null detection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43"/>
          <p:cNvSpPr/>
          <p:nvPr/>
        </p:nvSpPr>
        <p:spPr>
          <a:xfrm>
            <a:off x="8549640" y="24048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Counted nulls across every column; removed rows missing critical IDs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Oval 44"/>
          <p:cNvSpPr/>
          <p:nvPr/>
        </p:nvSpPr>
        <p:spPr>
          <a:xfrm>
            <a:off x="8183880" y="3044880"/>
            <a:ext cx="200880" cy="20088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45"/>
          <p:cNvSpPr/>
          <p:nvPr/>
        </p:nvSpPr>
        <p:spPr>
          <a:xfrm>
            <a:off x="8549640" y="29991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Duplicate scan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46"/>
          <p:cNvSpPr/>
          <p:nvPr/>
        </p:nvSpPr>
        <p:spPr>
          <a:xfrm>
            <a:off x="8549640" y="32551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Dropped exact duplicate order_ids and review_ids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Oval 47"/>
          <p:cNvSpPr/>
          <p:nvPr/>
        </p:nvSpPr>
        <p:spPr>
          <a:xfrm>
            <a:off x="8183880" y="3895200"/>
            <a:ext cx="200880" cy="20088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48"/>
          <p:cNvSpPr/>
          <p:nvPr/>
        </p:nvSpPr>
        <p:spPr>
          <a:xfrm>
            <a:off x="8549640" y="38494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Type casting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49"/>
          <p:cNvSpPr/>
          <p:nvPr/>
        </p:nvSpPr>
        <p:spPr>
          <a:xfrm>
            <a:off x="8549640" y="41058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5 timestamp columns string → timestamp; review_score string → int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Oval 50"/>
          <p:cNvSpPr/>
          <p:nvPr/>
        </p:nvSpPr>
        <p:spPr>
          <a:xfrm>
            <a:off x="8183880" y="4745880"/>
            <a:ext cx="200880" cy="20088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TextBox 51"/>
          <p:cNvSpPr/>
          <p:nvPr/>
        </p:nvSpPr>
        <p:spPr>
          <a:xfrm>
            <a:off x="8549640" y="47001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Currency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52"/>
          <p:cNvSpPr/>
          <p:nvPr/>
        </p:nvSpPr>
        <p:spPr>
          <a:xfrm>
            <a:off x="8549640" y="49561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All money fields → EGP localized (price_egp, freight_value_egp, …)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Oval 53"/>
          <p:cNvSpPr/>
          <p:nvPr/>
        </p:nvSpPr>
        <p:spPr>
          <a:xfrm>
            <a:off x="8183880" y="5596200"/>
            <a:ext cx="200880" cy="20088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54"/>
          <p:cNvSpPr/>
          <p:nvPr/>
        </p:nvSpPr>
        <p:spPr>
          <a:xfrm>
            <a:off x="8549640" y="55504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Schema enforcement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55"/>
          <p:cNvSpPr/>
          <p:nvPr/>
        </p:nvSpPr>
        <p:spPr>
          <a:xfrm>
            <a:off x="8549640" y="58064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Strict types written to Parquet + Postgres for downstream safety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56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57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Streaming ETL Phase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Continuous event flow — sub-10 second end-to-end latency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09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5" name="Picture 4" descr="streaming_pipeline.gif"/>
          <p:cNvPicPr/>
          <p:nvPr/>
        </p:nvPicPr>
        <p:blipFill>
          <a:blip r:embed="rId1"/>
          <a:stretch/>
        </p:blipFill>
        <p:spPr>
          <a:xfrm>
            <a:off x="365760" y="1463040"/>
            <a:ext cx="8046360" cy="287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Rounded Rectangle 5"/>
          <p:cNvSpPr/>
          <p:nvPr/>
        </p:nvSpPr>
        <p:spPr>
          <a:xfrm>
            <a:off x="8686800" y="1508760"/>
            <a:ext cx="3108600" cy="43887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6"/>
          <p:cNvSpPr/>
          <p:nvPr/>
        </p:nvSpPr>
        <p:spPr>
          <a:xfrm>
            <a:off x="8915400" y="16916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Streaming Components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7"/>
          <p:cNvSpPr/>
          <p:nvPr/>
        </p:nvSpPr>
        <p:spPr>
          <a:xfrm>
            <a:off x="8915400" y="21488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Producer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8"/>
          <p:cNvSpPr/>
          <p:nvPr/>
        </p:nvSpPr>
        <p:spPr>
          <a:xfrm>
            <a:off x="8915400" y="24048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kafka-python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9"/>
          <p:cNvSpPr/>
          <p:nvPr/>
        </p:nvSpPr>
        <p:spPr>
          <a:xfrm>
            <a:off x="8915400" y="26060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replays real orders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from Postgres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10"/>
          <p:cNvSpPr/>
          <p:nvPr/>
        </p:nvSpPr>
        <p:spPr>
          <a:xfrm>
            <a:off x="8915400" y="30632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Kafka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Box 11"/>
          <p:cNvSpPr/>
          <p:nvPr/>
        </p:nvSpPr>
        <p:spPr>
          <a:xfrm>
            <a:off x="8915400" y="33192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cp-kafka 7.6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12"/>
          <p:cNvSpPr/>
          <p:nvPr/>
        </p:nvSpPr>
        <p:spPr>
          <a:xfrm>
            <a:off x="8915400" y="35204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3-partition topic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orders_stream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13"/>
          <p:cNvSpPr/>
          <p:nvPr/>
        </p:nvSpPr>
        <p:spPr>
          <a:xfrm>
            <a:off x="8915400" y="39776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Spark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14"/>
          <p:cNvSpPr/>
          <p:nvPr/>
        </p:nvSpPr>
        <p:spPr>
          <a:xfrm>
            <a:off x="8915400" y="42336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Structured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5"/>
          <p:cNvSpPr/>
          <p:nvPr/>
        </p:nvSpPr>
        <p:spPr>
          <a:xfrm>
            <a:off x="8915400" y="44348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5s micro-batches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foreachBatch sink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16"/>
          <p:cNvSpPr/>
          <p:nvPr/>
        </p:nvSpPr>
        <p:spPr>
          <a:xfrm>
            <a:off x="8915400" y="48920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PostgreSQL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17"/>
          <p:cNvSpPr/>
          <p:nvPr/>
        </p:nvSpPr>
        <p:spPr>
          <a:xfrm>
            <a:off x="8915400" y="51480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JDBC writes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18"/>
          <p:cNvSpPr/>
          <p:nvPr/>
        </p:nvSpPr>
        <p:spPr>
          <a:xfrm>
            <a:off x="8915400" y="53492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raw + gov + 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rolling tables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19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0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Streaming Implementation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Why foreachBatch + idempotent appends, not direct JDBC sink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10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4"/>
          <p:cNvSpPr/>
          <p:nvPr/>
        </p:nvSpPr>
        <p:spPr>
          <a:xfrm>
            <a:off x="548640" y="1554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Design Decisions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Oval 5"/>
          <p:cNvSpPr/>
          <p:nvPr/>
        </p:nvSpPr>
        <p:spPr>
          <a:xfrm>
            <a:off x="548640" y="201168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TextBox 6"/>
          <p:cNvSpPr/>
          <p:nvPr/>
        </p:nvSpPr>
        <p:spPr>
          <a:xfrm>
            <a:off x="914400" y="19476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foreachBatch for the JDBC sink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7"/>
          <p:cNvSpPr/>
          <p:nvPr/>
        </p:nvSpPr>
        <p:spPr>
          <a:xfrm>
            <a:off x="914400" y="224028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Spark Structured Streaming has no built-in JDBC sink; foreachBatch lets us reuse the batch DataFrame API to write three sinks atomically per micro-batch.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Oval 8"/>
          <p:cNvSpPr/>
          <p:nvPr/>
        </p:nvSpPr>
        <p:spPr>
          <a:xfrm>
            <a:off x="548640" y="301752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TextBox 9"/>
          <p:cNvSpPr/>
          <p:nvPr/>
        </p:nvSpPr>
        <p:spPr>
          <a:xfrm>
            <a:off x="914400" y="29534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Checkpointing to /data/checkpoints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10"/>
          <p:cNvSpPr/>
          <p:nvPr/>
        </p:nvSpPr>
        <p:spPr>
          <a:xfrm>
            <a:off x="914400" y="324612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Survives container restarts and provides exactly-once semantics into Kafka offsets.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Oval 11"/>
          <p:cNvSpPr/>
          <p:nvPr/>
        </p:nvSpPr>
        <p:spPr>
          <a:xfrm>
            <a:off x="548640" y="402336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12"/>
          <p:cNvSpPr/>
          <p:nvPr/>
        </p:nvSpPr>
        <p:spPr>
          <a:xfrm>
            <a:off x="914400" y="39592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Key = order_id at the producer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13"/>
          <p:cNvSpPr/>
          <p:nvPr/>
        </p:nvSpPr>
        <p:spPr>
          <a:xfrm>
            <a:off x="914400" y="425196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Ensures all events for the same order land on the same partition — preserves order ordering.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Oval 14"/>
          <p:cNvSpPr/>
          <p:nvPr/>
        </p:nvSpPr>
        <p:spPr>
          <a:xfrm>
            <a:off x="548640" y="5029200"/>
            <a:ext cx="228240" cy="2282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15"/>
          <p:cNvSpPr/>
          <p:nvPr/>
        </p:nvSpPr>
        <p:spPr>
          <a:xfrm>
            <a:off x="914400" y="49651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Three derived tables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16"/>
          <p:cNvSpPr/>
          <p:nvPr/>
        </p:nvSpPr>
        <p:spPr>
          <a:xfrm>
            <a:off x="914400" y="5257800"/>
            <a:ext cx="5120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stream_orders_raw (audit), stream_orders_live_gov (governorate aggregates), stream_orders_live_status (status mix).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17"/>
          <p:cNvSpPr/>
          <p:nvPr/>
        </p:nvSpPr>
        <p:spPr>
          <a:xfrm>
            <a:off x="6583680" y="155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Core Sink Function (excerpt)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Rounded Rectangle 18"/>
          <p:cNvSpPr/>
          <p:nvPr/>
        </p:nvSpPr>
        <p:spPr>
          <a:xfrm>
            <a:off x="6583680" y="1965960"/>
            <a:ext cx="5211720" cy="41144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0" name="TextBox 19"/>
          <p:cNvSpPr/>
          <p:nvPr/>
        </p:nvSpPr>
        <p:spPr>
          <a:xfrm>
            <a:off x="6720840" y="2103120"/>
            <a:ext cx="49374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def foreach_batch(batch_df, batch_id):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if batch_df.rdd.isEmpty(): return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batch_df.persist()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# 1) raw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raw = batch_df.withColumn(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"batch_id", lit(batch_id))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write_jdbc(raw, "stream_orders_raw")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# 2) per-governorate rollup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gov = (batch_df.groupBy("governorate")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.agg(_count("order_id").alias("orders"),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     _sum("payment_value_egp")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        .alias("revenue_egp"))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.withColumn("batch_id", lit(batch_id))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.withColumn("batch_time",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                current_timestamp()))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write_jdbc(gov, "stream_orders_live_gov")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onsolas"/>
              </a:rPr>
              <a:t>    batch_df.unpersist()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20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21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Live Dashboard — Streamlit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What users see: KPIs, governorate bar chart, status mix, live feed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11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6" name="Picture 4" descr="dashboard_mock.png"/>
          <p:cNvPicPr/>
          <p:nvPr/>
        </p:nvPicPr>
        <p:blipFill>
          <a:blip r:embed="rId1"/>
          <a:stretch/>
        </p:blipFill>
        <p:spPr>
          <a:xfrm>
            <a:off x="1737360" y="1417320"/>
            <a:ext cx="8686440" cy="521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7" name="TextBox 5"/>
          <p:cNvSpPr/>
          <p:nvPr/>
        </p:nvSpPr>
        <p:spPr>
          <a:xfrm>
            <a:off x="548640" y="64008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Polls PostgreSQL every 3 seconds  ·  charts auto-update without page reload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Cloud Integration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Power BI + Azure — enterprise-grade dashboards on top of the same Postgres backbone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12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Rounded Rectangle 4"/>
          <p:cNvSpPr/>
          <p:nvPr/>
        </p:nvSpPr>
        <p:spPr>
          <a:xfrm>
            <a:off x="403560" y="1645920"/>
            <a:ext cx="3702960" cy="457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8a9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2" name="Rectangle 5"/>
          <p:cNvSpPr/>
          <p:nvPr/>
        </p:nvSpPr>
        <p:spPr>
          <a:xfrm>
            <a:off x="403560" y="1645920"/>
            <a:ext cx="3702960" cy="10944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TextBox 6"/>
          <p:cNvSpPr/>
          <p:nvPr/>
        </p:nvSpPr>
        <p:spPr>
          <a:xfrm>
            <a:off x="677880" y="19202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Power 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7"/>
          <p:cNvSpPr/>
          <p:nvPr/>
        </p:nvSpPr>
        <p:spPr>
          <a:xfrm>
            <a:off x="677880" y="24231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Streaming Dataset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8"/>
          <p:cNvSpPr/>
          <p:nvPr/>
        </p:nvSpPr>
        <p:spPr>
          <a:xfrm>
            <a:off x="677880" y="278892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Push-based, sub-second updates via REST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9"/>
          <p:cNvSpPr/>
          <p:nvPr/>
        </p:nvSpPr>
        <p:spPr>
          <a:xfrm>
            <a:off x="860760" y="3520440"/>
            <a:ext cx="278856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Oval 10"/>
          <p:cNvSpPr/>
          <p:nvPr/>
        </p:nvSpPr>
        <p:spPr>
          <a:xfrm>
            <a:off x="723600" y="3749040"/>
            <a:ext cx="109440" cy="1094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11"/>
          <p:cNvSpPr/>
          <p:nvPr/>
        </p:nvSpPr>
        <p:spPr>
          <a:xfrm>
            <a:off x="952200" y="365760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Real-time visuals tile by tile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Oval 12"/>
          <p:cNvSpPr/>
          <p:nvPr/>
        </p:nvSpPr>
        <p:spPr>
          <a:xfrm>
            <a:off x="723600" y="4251960"/>
            <a:ext cx="109440" cy="1094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Box 13"/>
          <p:cNvSpPr/>
          <p:nvPr/>
        </p:nvSpPr>
        <p:spPr>
          <a:xfrm>
            <a:off x="952200" y="416052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Public share link inside tenant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Oval 14"/>
          <p:cNvSpPr/>
          <p:nvPr/>
        </p:nvSpPr>
        <p:spPr>
          <a:xfrm>
            <a:off x="723600" y="4754880"/>
            <a:ext cx="109440" cy="10944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Box 15"/>
          <p:cNvSpPr/>
          <p:nvPr/>
        </p:nvSpPr>
        <p:spPr>
          <a:xfrm>
            <a:off x="952200" y="466344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FREE with Power BI Pro (Azure for Students)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Rounded Rectangle 16"/>
          <p:cNvSpPr/>
          <p:nvPr/>
        </p:nvSpPr>
        <p:spPr>
          <a:xfrm>
            <a:off x="4244040" y="1645920"/>
            <a:ext cx="3702960" cy="457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Rectangle 17"/>
          <p:cNvSpPr/>
          <p:nvPr/>
        </p:nvSpPr>
        <p:spPr>
          <a:xfrm>
            <a:off x="4244040" y="1645920"/>
            <a:ext cx="3702960" cy="1094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18"/>
          <p:cNvSpPr/>
          <p:nvPr/>
        </p:nvSpPr>
        <p:spPr>
          <a:xfrm>
            <a:off x="4518360" y="19202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Azure App Service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19"/>
          <p:cNvSpPr/>
          <p:nvPr/>
        </p:nvSpPr>
        <p:spPr>
          <a:xfrm>
            <a:off x="4518360" y="24231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Streamlit hosting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20"/>
          <p:cNvSpPr/>
          <p:nvPr/>
        </p:nvSpPr>
        <p:spPr>
          <a:xfrm>
            <a:off x="4518360" y="278892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Container deployment, permanent URL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21"/>
          <p:cNvSpPr/>
          <p:nvPr/>
        </p:nvSpPr>
        <p:spPr>
          <a:xfrm>
            <a:off x="4701240" y="3520440"/>
            <a:ext cx="278856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Oval 22"/>
          <p:cNvSpPr/>
          <p:nvPr/>
        </p:nvSpPr>
        <p:spPr>
          <a:xfrm>
            <a:off x="4564080" y="3749040"/>
            <a:ext cx="109440" cy="1094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23"/>
          <p:cNvSpPr/>
          <p:nvPr/>
        </p:nvSpPr>
        <p:spPr>
          <a:xfrm>
            <a:off x="4792680" y="365760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Replaces ngrok for the 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Oval 24"/>
          <p:cNvSpPr/>
          <p:nvPr/>
        </p:nvSpPr>
        <p:spPr>
          <a:xfrm>
            <a:off x="4564080" y="4251960"/>
            <a:ext cx="109440" cy="1094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TextBox 25"/>
          <p:cNvSpPr/>
          <p:nvPr/>
        </p:nvSpPr>
        <p:spPr>
          <a:xfrm>
            <a:off x="4792680" y="416052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B1 tier ~ $13 / month, covered by credit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Oval 26"/>
          <p:cNvSpPr/>
          <p:nvPr/>
        </p:nvSpPr>
        <p:spPr>
          <a:xfrm>
            <a:off x="4564080" y="4754880"/>
            <a:ext cx="109440" cy="10944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4" name="TextBox 27"/>
          <p:cNvSpPr/>
          <p:nvPr/>
        </p:nvSpPr>
        <p:spPr>
          <a:xfrm>
            <a:off x="4792680" y="466344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https://egypt-ecomm.azurewebsites.net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ounded Rectangle 28"/>
          <p:cNvSpPr/>
          <p:nvPr/>
        </p:nvSpPr>
        <p:spPr>
          <a:xfrm>
            <a:off x="8084520" y="1645920"/>
            <a:ext cx="3702960" cy="457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d3e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Rectangle 29"/>
          <p:cNvSpPr/>
          <p:nvPr/>
        </p:nvSpPr>
        <p:spPr>
          <a:xfrm>
            <a:off x="8084520" y="1645920"/>
            <a:ext cx="3702960" cy="109440"/>
          </a:xfrm>
          <a:prstGeom prst="rect">
            <a:avLst/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Box 30"/>
          <p:cNvSpPr/>
          <p:nvPr/>
        </p:nvSpPr>
        <p:spPr>
          <a:xfrm>
            <a:off x="8358840" y="19202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Azure Event Hubs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Box 31"/>
          <p:cNvSpPr/>
          <p:nvPr/>
        </p:nvSpPr>
        <p:spPr>
          <a:xfrm>
            <a:off x="8358840" y="24231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Managed Kafka (optional)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32"/>
          <p:cNvSpPr/>
          <p:nvPr/>
        </p:nvSpPr>
        <p:spPr>
          <a:xfrm>
            <a:off x="8358840" y="278892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Drop-in replacement using Kafka surface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33"/>
          <p:cNvSpPr/>
          <p:nvPr/>
        </p:nvSpPr>
        <p:spPr>
          <a:xfrm>
            <a:off x="8541720" y="3520440"/>
            <a:ext cx="2788560" cy="18000"/>
          </a:xfrm>
          <a:prstGeom prst="rect">
            <a:avLst/>
          </a:prstGeom>
          <a:solidFill>
            <a:srgbClr val="e0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Oval 34"/>
          <p:cNvSpPr/>
          <p:nvPr/>
        </p:nvSpPr>
        <p:spPr>
          <a:xfrm>
            <a:off x="8404560" y="3749040"/>
            <a:ext cx="109440" cy="109440"/>
          </a:xfrm>
          <a:prstGeom prst="ellipse">
            <a:avLst/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2" name="TextBox 35"/>
          <p:cNvSpPr/>
          <p:nvPr/>
        </p:nvSpPr>
        <p:spPr>
          <a:xfrm>
            <a:off x="8633160" y="365760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Basic tier ~ $11 / month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Oval 36"/>
          <p:cNvSpPr/>
          <p:nvPr/>
        </p:nvSpPr>
        <p:spPr>
          <a:xfrm>
            <a:off x="8404560" y="4251960"/>
            <a:ext cx="109440" cy="109440"/>
          </a:xfrm>
          <a:prstGeom prst="ellipse">
            <a:avLst/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TextBox 37"/>
          <p:cNvSpPr/>
          <p:nvPr/>
        </p:nvSpPr>
        <p:spPr>
          <a:xfrm>
            <a:off x="8633160" y="416052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Code change: just bootstrap_servers URL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Oval 38"/>
          <p:cNvSpPr/>
          <p:nvPr/>
        </p:nvSpPr>
        <p:spPr>
          <a:xfrm>
            <a:off x="8404560" y="4754880"/>
            <a:ext cx="109440" cy="109440"/>
          </a:xfrm>
          <a:prstGeom prst="ellipse">
            <a:avLst/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Box 39"/>
          <p:cNvSpPr/>
          <p:nvPr/>
        </p:nvSpPr>
        <p:spPr>
          <a:xfrm>
            <a:off x="8633160" y="466344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Adds 'cloud-native' to the architecture story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40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41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Public Deployment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Making the dashboard reachable from outside the laptop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13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Rounded Rectangle 4"/>
          <p:cNvSpPr/>
          <p:nvPr/>
        </p:nvSpPr>
        <p:spPr>
          <a:xfrm>
            <a:off x="548640" y="1691640"/>
            <a:ext cx="11063880" cy="14169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 w="19050">
            <a:solidFill>
              <a:srgbClr val="1c7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Oval 5"/>
          <p:cNvSpPr/>
          <p:nvPr/>
        </p:nvSpPr>
        <p:spPr>
          <a:xfrm>
            <a:off x="777240" y="1965960"/>
            <a:ext cx="868320" cy="868320"/>
          </a:xfrm>
          <a:prstGeom prst="ellipse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6"/>
          <p:cNvSpPr/>
          <p:nvPr/>
        </p:nvSpPr>
        <p:spPr>
          <a:xfrm>
            <a:off x="1920240" y="19202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ngrok tunnel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7"/>
          <p:cNvSpPr/>
          <p:nvPr/>
        </p:nvSpPr>
        <p:spPr>
          <a:xfrm>
            <a:off x="1920240" y="246888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Fastest path for the defense — public URL with one command, no migrations needed.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8"/>
          <p:cNvSpPr/>
          <p:nvPr/>
        </p:nvSpPr>
        <p:spPr>
          <a:xfrm>
            <a:off x="9144000" y="192024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TIME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9"/>
          <p:cNvSpPr/>
          <p:nvPr/>
        </p:nvSpPr>
        <p:spPr>
          <a:xfrm>
            <a:off x="9144000" y="214884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5 min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10"/>
          <p:cNvSpPr/>
          <p:nvPr/>
        </p:nvSpPr>
        <p:spPr>
          <a:xfrm>
            <a:off x="10332720" y="192024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1"/>
          <p:cNvSpPr/>
          <p:nvPr/>
        </p:nvSpPr>
        <p:spPr>
          <a:xfrm>
            <a:off x="10332720" y="214884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ounded Rectangle 12"/>
          <p:cNvSpPr/>
          <p:nvPr/>
        </p:nvSpPr>
        <p:spPr>
          <a:xfrm>
            <a:off x="548640" y="3246120"/>
            <a:ext cx="11063880" cy="14169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 w="19050">
            <a:solidFill>
              <a:srgbClr val="e8a9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Oval 13"/>
          <p:cNvSpPr/>
          <p:nvPr/>
        </p:nvSpPr>
        <p:spPr>
          <a:xfrm>
            <a:off x="777240" y="3520440"/>
            <a:ext cx="868320" cy="868320"/>
          </a:xfrm>
          <a:prstGeom prst="ellipse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14"/>
          <p:cNvSpPr/>
          <p:nvPr/>
        </p:nvSpPr>
        <p:spPr>
          <a:xfrm>
            <a:off x="1920240" y="34747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Streamlit Cloud + Neon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15"/>
          <p:cNvSpPr/>
          <p:nvPr/>
        </p:nvSpPr>
        <p:spPr>
          <a:xfrm>
            <a:off x="1920240" y="402336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Push to GitHub, host on Streamlit Cloud, mirror Postgres to Neon free tier.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16"/>
          <p:cNvSpPr/>
          <p:nvPr/>
        </p:nvSpPr>
        <p:spPr>
          <a:xfrm>
            <a:off x="9144000" y="34747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TIME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17"/>
          <p:cNvSpPr/>
          <p:nvPr/>
        </p:nvSpPr>
        <p:spPr>
          <a:xfrm>
            <a:off x="9144000" y="3703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1 hour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Box 18"/>
          <p:cNvSpPr/>
          <p:nvPr/>
        </p:nvSpPr>
        <p:spPr>
          <a:xfrm>
            <a:off x="10332720" y="34747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19"/>
          <p:cNvSpPr/>
          <p:nvPr/>
        </p:nvSpPr>
        <p:spPr>
          <a:xfrm>
            <a:off x="10332720" y="3703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Rounded Rectangle 20"/>
          <p:cNvSpPr/>
          <p:nvPr/>
        </p:nvSpPr>
        <p:spPr>
          <a:xfrm>
            <a:off x="548640" y="4800600"/>
            <a:ext cx="11063880" cy="141696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 w="19050">
            <a:solidFill>
              <a:srgbClr val="2d3e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Oval 21"/>
          <p:cNvSpPr/>
          <p:nvPr/>
        </p:nvSpPr>
        <p:spPr>
          <a:xfrm>
            <a:off x="777240" y="5074920"/>
            <a:ext cx="868320" cy="868320"/>
          </a:xfrm>
          <a:prstGeom prst="ellipse">
            <a:avLst/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Box 22"/>
          <p:cNvSpPr/>
          <p:nvPr/>
        </p:nvSpPr>
        <p:spPr>
          <a:xfrm>
            <a:off x="1920240" y="50292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Azure App Service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23"/>
          <p:cNvSpPr/>
          <p:nvPr/>
        </p:nvSpPr>
        <p:spPr>
          <a:xfrm>
            <a:off x="1920240" y="55778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Permanent URL like https://egypt-ecomm.azurewebsites.net — credit-covered.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24"/>
          <p:cNvSpPr/>
          <p:nvPr/>
        </p:nvSpPr>
        <p:spPr>
          <a:xfrm>
            <a:off x="9144000" y="502920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TIME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25"/>
          <p:cNvSpPr/>
          <p:nvPr/>
        </p:nvSpPr>
        <p:spPr>
          <a:xfrm>
            <a:off x="9144000" y="525780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1–2 hours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26"/>
          <p:cNvSpPr/>
          <p:nvPr/>
        </p:nvSpPr>
        <p:spPr>
          <a:xfrm>
            <a:off x="10332720" y="502920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27"/>
          <p:cNvSpPr/>
          <p:nvPr/>
        </p:nvSpPr>
        <p:spPr>
          <a:xfrm>
            <a:off x="10332720" y="525780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$13/mo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28"/>
          <p:cNvSpPr/>
          <p:nvPr/>
        </p:nvSpPr>
        <p:spPr>
          <a:xfrm>
            <a:off x="548640" y="64008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i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Recommended path for graduation defense:  A on demo day  →  C as the permanent submission link.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Results &amp; Metrics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What the running system actually delivers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14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Rounded Rectangle 4"/>
          <p:cNvSpPr/>
          <p:nvPr/>
        </p:nvSpPr>
        <p:spPr>
          <a:xfrm>
            <a:off x="495000" y="173736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Rectangle 5"/>
          <p:cNvSpPr/>
          <p:nvPr/>
        </p:nvSpPr>
        <p:spPr>
          <a:xfrm>
            <a:off x="495000" y="1737360"/>
            <a:ext cx="91080" cy="14169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TextBox 6"/>
          <p:cNvSpPr/>
          <p:nvPr/>
        </p:nvSpPr>
        <p:spPr>
          <a:xfrm>
            <a:off x="769320" y="1901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9 / 9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Box 7"/>
          <p:cNvSpPr/>
          <p:nvPr/>
        </p:nvSpPr>
        <p:spPr>
          <a:xfrm>
            <a:off x="769320" y="26060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tables migrated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ounded Rectangle 8"/>
          <p:cNvSpPr/>
          <p:nvPr/>
        </p:nvSpPr>
        <p:spPr>
          <a:xfrm>
            <a:off x="3329640" y="173736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5" name="Rectangle 9"/>
          <p:cNvSpPr/>
          <p:nvPr/>
        </p:nvSpPr>
        <p:spPr>
          <a:xfrm>
            <a:off x="3329640" y="1737360"/>
            <a:ext cx="91080" cy="14169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10"/>
          <p:cNvSpPr/>
          <p:nvPr/>
        </p:nvSpPr>
        <p:spPr>
          <a:xfrm>
            <a:off x="3603960" y="1901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~360 K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11"/>
          <p:cNvSpPr/>
          <p:nvPr/>
        </p:nvSpPr>
        <p:spPr>
          <a:xfrm>
            <a:off x="3603960" y="26060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rows 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ounded Rectangle 12"/>
          <p:cNvSpPr/>
          <p:nvPr/>
        </p:nvSpPr>
        <p:spPr>
          <a:xfrm>
            <a:off x="6164280" y="173736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Rectangle 13"/>
          <p:cNvSpPr/>
          <p:nvPr/>
        </p:nvSpPr>
        <p:spPr>
          <a:xfrm>
            <a:off x="6164280" y="1737360"/>
            <a:ext cx="91080" cy="141696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TextBox 14"/>
          <p:cNvSpPr/>
          <p:nvPr/>
        </p:nvSpPr>
        <p:spPr>
          <a:xfrm>
            <a:off x="6438600" y="1901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3,373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15"/>
          <p:cNvSpPr/>
          <p:nvPr/>
        </p:nvSpPr>
        <p:spPr>
          <a:xfrm>
            <a:off x="6438600" y="26060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invalid rows removed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ounded Rectangle 16"/>
          <p:cNvSpPr/>
          <p:nvPr/>
        </p:nvSpPr>
        <p:spPr>
          <a:xfrm>
            <a:off x="8998920" y="173736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Rectangle 17"/>
          <p:cNvSpPr/>
          <p:nvPr/>
        </p:nvSpPr>
        <p:spPr>
          <a:xfrm>
            <a:off x="8998920" y="1737360"/>
            <a:ext cx="91080" cy="14169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Box 18"/>
          <p:cNvSpPr/>
          <p:nvPr/>
        </p:nvSpPr>
        <p:spPr>
          <a:xfrm>
            <a:off x="9273240" y="19018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5 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19"/>
          <p:cNvSpPr/>
          <p:nvPr/>
        </p:nvSpPr>
        <p:spPr>
          <a:xfrm>
            <a:off x="9273240" y="26060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micro-batch trigger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ounded Rectangle 20"/>
          <p:cNvSpPr/>
          <p:nvPr/>
        </p:nvSpPr>
        <p:spPr>
          <a:xfrm>
            <a:off x="495000" y="329184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Rectangle 21"/>
          <p:cNvSpPr/>
          <p:nvPr/>
        </p:nvSpPr>
        <p:spPr>
          <a:xfrm>
            <a:off x="495000" y="3291840"/>
            <a:ext cx="91080" cy="141696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22"/>
          <p:cNvSpPr/>
          <p:nvPr/>
        </p:nvSpPr>
        <p:spPr>
          <a:xfrm>
            <a:off x="769320" y="345636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3 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23"/>
          <p:cNvSpPr/>
          <p:nvPr/>
        </p:nvSpPr>
        <p:spPr>
          <a:xfrm>
            <a:off x="769320" y="4160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dashboard refresh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ounded Rectangle 24"/>
          <p:cNvSpPr/>
          <p:nvPr/>
        </p:nvSpPr>
        <p:spPr>
          <a:xfrm>
            <a:off x="3329640" y="329184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Rectangle 25"/>
          <p:cNvSpPr/>
          <p:nvPr/>
        </p:nvSpPr>
        <p:spPr>
          <a:xfrm>
            <a:off x="3329640" y="3291840"/>
            <a:ext cx="91080" cy="14169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26"/>
          <p:cNvSpPr/>
          <p:nvPr/>
        </p:nvSpPr>
        <p:spPr>
          <a:xfrm>
            <a:off x="3603960" y="345636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&lt; 8 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27"/>
          <p:cNvSpPr/>
          <p:nvPr/>
        </p:nvSpPr>
        <p:spPr>
          <a:xfrm>
            <a:off x="3603960" y="4160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end-to-end latency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Rounded Rectangle 28"/>
          <p:cNvSpPr/>
          <p:nvPr/>
        </p:nvSpPr>
        <p:spPr>
          <a:xfrm>
            <a:off x="6164280" y="329184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Rectangle 29"/>
          <p:cNvSpPr/>
          <p:nvPr/>
        </p:nvSpPr>
        <p:spPr>
          <a:xfrm>
            <a:off x="6164280" y="3291840"/>
            <a:ext cx="91080" cy="141696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Box 30"/>
          <p:cNvSpPr/>
          <p:nvPr/>
        </p:nvSpPr>
        <p:spPr>
          <a:xfrm>
            <a:off x="6438600" y="345636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31"/>
          <p:cNvSpPr/>
          <p:nvPr/>
        </p:nvSpPr>
        <p:spPr>
          <a:xfrm>
            <a:off x="6438600" y="4160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live PG tables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Rounded Rectangle 32"/>
          <p:cNvSpPr/>
          <p:nvPr/>
        </p:nvSpPr>
        <p:spPr>
          <a:xfrm>
            <a:off x="8998920" y="3291840"/>
            <a:ext cx="2697120" cy="1416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Rectangle 33"/>
          <p:cNvSpPr/>
          <p:nvPr/>
        </p:nvSpPr>
        <p:spPr>
          <a:xfrm>
            <a:off x="8998920" y="3291840"/>
            <a:ext cx="91080" cy="14169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0" name="TextBox 34"/>
          <p:cNvSpPr/>
          <p:nvPr/>
        </p:nvSpPr>
        <p:spPr>
          <a:xfrm>
            <a:off x="9273240" y="345636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13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35"/>
          <p:cNvSpPr/>
          <p:nvPr/>
        </p:nvSpPr>
        <p:spPr>
          <a:xfrm>
            <a:off x="9273240" y="41605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Docker containers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Rounded Rectangle 36"/>
          <p:cNvSpPr/>
          <p:nvPr/>
        </p:nvSpPr>
        <p:spPr>
          <a:xfrm>
            <a:off x="548640" y="4937760"/>
            <a:ext cx="11063880" cy="1279800"/>
          </a:xfrm>
          <a:prstGeom prst="roundRect">
            <a:avLst>
              <a:gd name="adj" fmla="val 10000"/>
            </a:avLst>
          </a:prstGeom>
          <a:solidFill>
            <a:srgbClr val="f8fbfc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TextBox 37"/>
          <p:cNvSpPr/>
          <p:nvPr/>
        </p:nvSpPr>
        <p:spPr>
          <a:xfrm>
            <a:off x="777240" y="50749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Beyond the numbers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Box 38"/>
          <p:cNvSpPr/>
          <p:nvPr/>
        </p:nvSpPr>
        <p:spPr>
          <a:xfrm>
            <a:off x="777240" y="5440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The same Postgres backbone successfully fed both Streamlit (engineering-friendly) and Power BI (business-friendly) dashboards simultaneously, with sub-10 second event latency from producer to chart — proving the dual-consumer pattern that production teams rely 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Box 39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Box 40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Challenges &amp; Solutions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What broke, how we fixed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15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Rounded Rectangle 4"/>
          <p:cNvSpPr/>
          <p:nvPr/>
        </p:nvSpPr>
        <p:spPr>
          <a:xfrm>
            <a:off x="548640" y="1645920"/>
            <a:ext cx="5440320" cy="2239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1" name="Oval 5"/>
          <p:cNvSpPr/>
          <p:nvPr/>
        </p:nvSpPr>
        <p:spPr>
          <a:xfrm>
            <a:off x="777240" y="1920240"/>
            <a:ext cx="228240" cy="228240"/>
          </a:xfrm>
          <a:prstGeom prst="ellipse">
            <a:avLst/>
          </a:prstGeom>
          <a:solidFill>
            <a:srgbClr val="c84b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2" name="TextBox 6"/>
          <p:cNvSpPr/>
          <p:nvPr/>
        </p:nvSpPr>
        <p:spPr>
          <a:xfrm>
            <a:off x="1143000" y="1874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JMX agent crash in Kafka CLI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Box 7"/>
          <p:cNvSpPr/>
          <p:nvPr/>
        </p:nvSpPr>
        <p:spPr>
          <a:xfrm>
            <a:off x="1143000" y="224028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Confluent image bound port 1234 to a Prometheus JMX exporter for every Java process — kafka-topics CLI failed at startup with BindException.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Oval 8"/>
          <p:cNvSpPr/>
          <p:nvPr/>
        </p:nvSpPr>
        <p:spPr>
          <a:xfrm>
            <a:off x="777240" y="3108960"/>
            <a:ext cx="228240" cy="228240"/>
          </a:xfrm>
          <a:prstGeom prst="ellipse">
            <a:avLst/>
          </a:prstGeom>
          <a:solidFill>
            <a:srgbClr val="3ba5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Box 9"/>
          <p:cNvSpPr/>
          <p:nvPr/>
        </p:nvSpPr>
        <p:spPr>
          <a:xfrm>
            <a:off x="1143000" y="306324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Solution: created topics via Kafka UI (port 8090); for CLI, unset KAFKA_OPTS before each command.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Rounded Rectangle 10"/>
          <p:cNvSpPr/>
          <p:nvPr/>
        </p:nvSpPr>
        <p:spPr>
          <a:xfrm>
            <a:off x="6172200" y="1645920"/>
            <a:ext cx="5440320" cy="2239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7" name="Oval 11"/>
          <p:cNvSpPr/>
          <p:nvPr/>
        </p:nvSpPr>
        <p:spPr>
          <a:xfrm>
            <a:off x="6400800" y="1920240"/>
            <a:ext cx="228240" cy="228240"/>
          </a:xfrm>
          <a:prstGeom prst="ellipse">
            <a:avLst/>
          </a:prstGeom>
          <a:solidFill>
            <a:srgbClr val="c84b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8" name="TextBox 12"/>
          <p:cNvSpPr/>
          <p:nvPr/>
        </p:nvSpPr>
        <p:spPr>
          <a:xfrm>
            <a:off x="6766560" y="1874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Spark has no native JDBC sink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13"/>
          <p:cNvSpPr/>
          <p:nvPr/>
        </p:nvSpPr>
        <p:spPr>
          <a:xfrm>
            <a:off x="6766560" y="224028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writeStream.format("jdbc") doesn't exist — Spark Structured Streaming has no built-in sink for relational databases.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Oval 14"/>
          <p:cNvSpPr/>
          <p:nvPr/>
        </p:nvSpPr>
        <p:spPr>
          <a:xfrm>
            <a:off x="6400800" y="3108960"/>
            <a:ext cx="228240" cy="228240"/>
          </a:xfrm>
          <a:prstGeom prst="ellipse">
            <a:avLst/>
          </a:prstGeom>
          <a:solidFill>
            <a:srgbClr val="3ba5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1" name="TextBox 15"/>
          <p:cNvSpPr/>
          <p:nvPr/>
        </p:nvSpPr>
        <p:spPr>
          <a:xfrm>
            <a:off x="6766560" y="306324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Solution: used foreachBatch to convert each micro-batch into a regular DataFrame and write to three tables atomically.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ounded Rectangle 16"/>
          <p:cNvSpPr/>
          <p:nvPr/>
        </p:nvSpPr>
        <p:spPr>
          <a:xfrm>
            <a:off x="548640" y="4023360"/>
            <a:ext cx="5440320" cy="2239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3" name="Oval 17"/>
          <p:cNvSpPr/>
          <p:nvPr/>
        </p:nvSpPr>
        <p:spPr>
          <a:xfrm>
            <a:off x="777240" y="4297680"/>
            <a:ext cx="228240" cy="228240"/>
          </a:xfrm>
          <a:prstGeom prst="ellipse">
            <a:avLst/>
          </a:prstGeom>
          <a:solidFill>
            <a:srgbClr val="c84b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4" name="TextBox 18"/>
          <p:cNvSpPr/>
          <p:nvPr/>
        </p:nvSpPr>
        <p:spPr>
          <a:xfrm>
            <a:off x="1143000" y="4251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Pandas 2.2.2 compile failure on Python 3.13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Box 19"/>
          <p:cNvSpPr/>
          <p:nvPr/>
        </p:nvSpPr>
        <p:spPr>
          <a:xfrm>
            <a:off x="1143000" y="461772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Pre-built wheel didn't exist; pip tried to compile from C source and failed because no Visual Studio build tools.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Oval 20"/>
          <p:cNvSpPr/>
          <p:nvPr/>
        </p:nvSpPr>
        <p:spPr>
          <a:xfrm>
            <a:off x="777240" y="5486400"/>
            <a:ext cx="228240" cy="228240"/>
          </a:xfrm>
          <a:prstGeom prst="ellipse">
            <a:avLst/>
          </a:prstGeom>
          <a:solidFill>
            <a:srgbClr val="3ba5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7" name="TextBox 21"/>
          <p:cNvSpPr/>
          <p:nvPr/>
        </p:nvSpPr>
        <p:spPr>
          <a:xfrm>
            <a:off x="1143000" y="544068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Solution: dropped strict version pinning, installed latest pandas which has a 3.13-compatible wheel.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ounded Rectangle 22"/>
          <p:cNvSpPr/>
          <p:nvPr/>
        </p:nvSpPr>
        <p:spPr>
          <a:xfrm>
            <a:off x="6172200" y="4023360"/>
            <a:ext cx="5440320" cy="2239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0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Oval 23"/>
          <p:cNvSpPr/>
          <p:nvPr/>
        </p:nvSpPr>
        <p:spPr>
          <a:xfrm>
            <a:off x="6400800" y="4297680"/>
            <a:ext cx="228240" cy="228240"/>
          </a:xfrm>
          <a:prstGeom prst="ellipse">
            <a:avLst/>
          </a:prstGeom>
          <a:solidFill>
            <a:srgbClr val="c84b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0" name="TextBox 24"/>
          <p:cNvSpPr/>
          <p:nvPr/>
        </p:nvSpPr>
        <p:spPr>
          <a:xfrm>
            <a:off x="6766560" y="4251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PowerShell context resets between windows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Box 25"/>
          <p:cNvSpPr/>
          <p:nvPr/>
        </p:nvSpPr>
        <p:spPr>
          <a:xfrm>
            <a:off x="6766560" y="461772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Each new PowerShell window starts in C:\WINDOWS\System32 with no venv active, breaking pip/streamlit commands.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Oval 26"/>
          <p:cNvSpPr/>
          <p:nvPr/>
        </p:nvSpPr>
        <p:spPr>
          <a:xfrm>
            <a:off x="6400800" y="5486400"/>
            <a:ext cx="228240" cy="228240"/>
          </a:xfrm>
          <a:prstGeom prst="ellipse">
            <a:avLst/>
          </a:prstGeom>
          <a:solidFill>
            <a:srgbClr val="3ba5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3" name="TextBox 27"/>
          <p:cNvSpPr/>
          <p:nvPr/>
        </p:nvSpPr>
        <p:spPr>
          <a:xfrm>
            <a:off x="6766560" y="544068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Solution: documented the cd + activate ritual that must precede every command in every new terminal.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28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 E-Commerce Big Data Personalization Pipeline  ·  Graduation Project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Box 29"/>
          <p:cNvSpPr/>
          <p:nvPr/>
        </p:nvSpPr>
        <p:spPr>
          <a:xfrm>
            <a:off x="9601200" y="6446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EGYPT-ECOMM-PERS-V3.1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TextBox 1"/>
          <p:cNvSpPr/>
          <p:nvPr/>
        </p:nvSpPr>
        <p:spPr>
          <a:xfrm>
            <a:off x="548640" y="320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Future Work &amp; Conclusion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Box 2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Where this pipeline can go next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Box 3"/>
          <p:cNvSpPr/>
          <p:nvPr/>
        </p:nvSpPr>
        <p:spPr>
          <a:xfrm>
            <a:off x="10515600" y="3657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16 / 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Box 4"/>
          <p:cNvSpPr/>
          <p:nvPr/>
        </p:nvSpPr>
        <p:spPr>
          <a:xfrm>
            <a:off x="548640" y="169164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Roadmap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Right Arrow 5"/>
          <p:cNvSpPr/>
          <p:nvPr/>
        </p:nvSpPr>
        <p:spPr>
          <a:xfrm>
            <a:off x="548640" y="2221920"/>
            <a:ext cx="3654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1" name="TextBox 6"/>
          <p:cNvSpPr/>
          <p:nvPr/>
        </p:nvSpPr>
        <p:spPr>
          <a:xfrm>
            <a:off x="1051560" y="214884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Schema Registry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Box 7"/>
          <p:cNvSpPr/>
          <p:nvPr/>
        </p:nvSpPr>
        <p:spPr>
          <a:xfrm>
            <a:off x="1051560" y="2423160"/>
            <a:ext cx="521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Migrate JSON events to Avro with Confluent Schema Registry for safer producer/consumer contracts.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Right Arrow 8"/>
          <p:cNvSpPr/>
          <p:nvPr/>
        </p:nvSpPr>
        <p:spPr>
          <a:xfrm>
            <a:off x="548640" y="2999160"/>
            <a:ext cx="3654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4" name="TextBox 9"/>
          <p:cNvSpPr/>
          <p:nvPr/>
        </p:nvSpPr>
        <p:spPr>
          <a:xfrm>
            <a:off x="1051560" y="292608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Multi-broker Kafka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Box 10"/>
          <p:cNvSpPr/>
          <p:nvPr/>
        </p:nvSpPr>
        <p:spPr>
          <a:xfrm>
            <a:off x="1051560" y="3200400"/>
            <a:ext cx="521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Replicate the topic across 3 brokers for fault tolerance.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ight Arrow 11"/>
          <p:cNvSpPr/>
          <p:nvPr/>
        </p:nvSpPr>
        <p:spPr>
          <a:xfrm>
            <a:off x="548640" y="3776400"/>
            <a:ext cx="3654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12"/>
          <p:cNvSpPr/>
          <p:nvPr/>
        </p:nvSpPr>
        <p:spPr>
          <a:xfrm>
            <a:off x="1051560" y="370332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Personalization 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Box 13"/>
          <p:cNvSpPr/>
          <p:nvPr/>
        </p:nvSpPr>
        <p:spPr>
          <a:xfrm>
            <a:off x="1051560" y="3977640"/>
            <a:ext cx="521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Train a recommendation model on the silver layer and serve via streaming Spark MLlib.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Right Arrow 14"/>
          <p:cNvSpPr/>
          <p:nvPr/>
        </p:nvSpPr>
        <p:spPr>
          <a:xfrm>
            <a:off x="548640" y="4553640"/>
            <a:ext cx="3654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0" name="TextBox 15"/>
          <p:cNvSpPr/>
          <p:nvPr/>
        </p:nvSpPr>
        <p:spPr>
          <a:xfrm>
            <a:off x="1051560" y="44805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Cloud-native rebuild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Box 16"/>
          <p:cNvSpPr/>
          <p:nvPr/>
        </p:nvSpPr>
        <p:spPr>
          <a:xfrm>
            <a:off x="1051560" y="4754880"/>
            <a:ext cx="521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Migrate to Azure Event Hubs + Stream Analytics + Power BI streaming, all wired through Bicep IaC.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ight Arrow 17"/>
          <p:cNvSpPr/>
          <p:nvPr/>
        </p:nvSpPr>
        <p:spPr>
          <a:xfrm>
            <a:off x="548640" y="5330880"/>
            <a:ext cx="3654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3" name="TextBox 18"/>
          <p:cNvSpPr/>
          <p:nvPr/>
        </p:nvSpPr>
        <p:spPr>
          <a:xfrm>
            <a:off x="1051560" y="525780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3e50"/>
                </a:solidFill>
                <a:effectLst/>
                <a:uFillTx/>
                <a:latin typeface="Calibri"/>
              </a:rPr>
              <a:t>Airflow orchestration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Box 19"/>
          <p:cNvSpPr/>
          <p:nvPr/>
        </p:nvSpPr>
        <p:spPr>
          <a:xfrm>
            <a:off x="1051560" y="5532120"/>
            <a:ext cx="521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e8291"/>
                </a:solidFill>
                <a:effectLst/>
                <a:uFillTx/>
                <a:latin typeface="Calibri"/>
              </a:rPr>
              <a:t>Add a daily DAG that snapshots streaming aggregates back to the batch silver layer.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Rounded Rectangle 20"/>
          <p:cNvSpPr/>
          <p:nvPr/>
        </p:nvSpPr>
        <p:spPr>
          <a:xfrm>
            <a:off x="6766560" y="1691640"/>
            <a:ext cx="4845960" cy="4571640"/>
          </a:xfrm>
          <a:prstGeom prst="roundRect">
            <a:avLst>
              <a:gd name="adj" fmla="val 10000"/>
            </a:avLst>
          </a:prstGeom>
          <a:solidFill>
            <a:srgbClr val="2d3e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6" name="TextBox 21"/>
          <p:cNvSpPr/>
          <p:nvPr/>
        </p:nvSpPr>
        <p:spPr>
          <a:xfrm>
            <a:off x="7040880" y="2011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Box 22"/>
          <p:cNvSpPr/>
          <p:nvPr/>
        </p:nvSpPr>
        <p:spPr>
          <a:xfrm>
            <a:off x="7040880" y="27432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5d9d9"/>
                </a:solidFill>
                <a:effectLst/>
                <a:uFillTx/>
                <a:latin typeface="Calibri"/>
              </a:rPr>
              <a:t>Questions, comments, and discussion welcome.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23"/>
          <p:cNvSpPr/>
          <p:nvPr/>
        </p:nvSpPr>
        <p:spPr>
          <a:xfrm>
            <a:off x="7040880" y="3474720"/>
            <a:ext cx="4205880" cy="18000"/>
          </a:xfrm>
          <a:prstGeom prst="rect">
            <a:avLst/>
          </a:prstGeom>
          <a:solidFill>
            <a:srgbClr val="e8a9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TextBox 24"/>
          <p:cNvSpPr/>
          <p:nvPr/>
        </p:nvSpPr>
        <p:spPr>
          <a:xfrm>
            <a:off x="7040880" y="36118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Project repository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Box 25"/>
          <p:cNvSpPr/>
          <p:nvPr/>
        </p:nvSpPr>
        <p:spPr>
          <a:xfrm>
            <a:off x="7040880" y="38404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github.com/&lt;your-handle&gt;/egypt-ecomm-bigdata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Box 26"/>
          <p:cNvSpPr/>
          <p:nvPr/>
        </p:nvSpPr>
        <p:spPr>
          <a:xfrm>
            <a:off x="7040880" y="44348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Live 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Box 27"/>
          <p:cNvSpPr/>
          <p:nvPr/>
        </p:nvSpPr>
        <p:spPr>
          <a:xfrm>
            <a:off x="7040880" y="46634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https://&lt;ngrok-or-azure-url&gt;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28"/>
          <p:cNvSpPr/>
          <p:nvPr/>
        </p:nvSpPr>
        <p:spPr>
          <a:xfrm>
            <a:off x="7040880" y="52578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e8a917"/>
                </a:solidFill>
                <a:effectLst/>
                <a:uFillTx/>
                <a:latin typeface="Calibri"/>
              </a:rPr>
              <a:t>Contact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Box 29"/>
          <p:cNvSpPr/>
          <p:nvPr/>
        </p:nvSpPr>
        <p:spPr>
          <a:xfrm>
            <a:off x="7040880" y="54864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your.email@university.edu 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2026-05-24T23:38:02Z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